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6"/>
    <p:sldId id="280" r:id="rId5"/>
    <p:sldId id="281" r:id="rId4"/>
    <p:sldId id="282" r:id="rId3"/>
    <p:sldId id="283" r:id="rId2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12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8.xml"/><Relationship Id="rId3" Type="http://schemas.openxmlformats.org/officeDocument/2006/relationships/slide" Target="slides/slide27.xml"/><Relationship Id="rId4" Type="http://schemas.openxmlformats.org/officeDocument/2006/relationships/slide" Target="slides/slide26.xml"/><Relationship Id="rId5" Type="http://schemas.openxmlformats.org/officeDocument/2006/relationships/slide" Target="slides/slide25.xml"/><Relationship Id="rId6" Type="http://schemas.openxmlformats.org/officeDocument/2006/relationships/slide" Target="slides/slide2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48B32-384E-4CE1-A037-D20B29FAB1C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05155-F6A5-441C-B65E-14B7E9EAD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63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 1 1">
  <p:cSld name="4_Custom Layout 1 1"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7" name="Google Shape;1717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6284784"/>
            <a:ext cx="12218981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4389" y="6389103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21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0" name="Google Shape;1720;p21"/>
          <p:cNvSpPr txBox="1">
            <a:spLocks noGrp="1"/>
          </p:cNvSpPr>
          <p:nvPr>
            <p:ph type="title"/>
          </p:nvPr>
        </p:nvSpPr>
        <p:spPr>
          <a:xfrm>
            <a:off x="1248637" y="757654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/>
              <a:buNone/>
              <a:defRPr sz="4000" b="0">
                <a:solidFill>
                  <a:srgbClr val="A4123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21" name="Google Shape;1721;p21"/>
          <p:cNvCxnSpPr/>
          <p:nvPr/>
        </p:nvCxnSpPr>
        <p:spPr>
          <a:xfrm>
            <a:off x="495301" y="1600096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22" name="Google Shape;1722;p21"/>
          <p:cNvPicPr preferRelativeResize="0"/>
          <p:nvPr/>
        </p:nvPicPr>
        <p:blipFill rotWithShape="1">
          <a:blip r:embed="rId4">
            <a:alphaModFix/>
          </a:blip>
          <a:srcRect r="81454" b="8525"/>
          <a:stretch/>
        </p:blipFill>
        <p:spPr>
          <a:xfrm>
            <a:off x="495301" y="757657"/>
            <a:ext cx="583356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3" name="Google Shape;1723;p21"/>
          <p:cNvCxnSpPr/>
          <p:nvPr/>
        </p:nvCxnSpPr>
        <p:spPr>
          <a:xfrm>
            <a:off x="1202479" y="757655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234472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 1">
  <p:cSld name="4_Custom Layout 1"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7" name="Google Shape;170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6284784"/>
            <a:ext cx="12218981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8" name="Google Shape;170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4389" y="6389103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09" name="Google Shape;1709;p20"/>
          <p:cNvSpPr txBox="1">
            <a:spLocks noGrp="1"/>
          </p:cNvSpPr>
          <p:nvPr>
            <p:ph type="sldNum" idx="12"/>
          </p:nvPr>
        </p:nvSpPr>
        <p:spPr>
          <a:xfrm>
            <a:off x="190501" y="638106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0" name="Google Shape;1710;p20"/>
          <p:cNvSpPr txBox="1">
            <a:spLocks noGrp="1"/>
          </p:cNvSpPr>
          <p:nvPr>
            <p:ph type="title"/>
          </p:nvPr>
        </p:nvSpPr>
        <p:spPr>
          <a:xfrm>
            <a:off x="1248637" y="757657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/>
              <a:buNone/>
              <a:defRPr sz="4000" b="0">
                <a:solidFill>
                  <a:srgbClr val="A4123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11" name="Google Shape;1711;p20"/>
          <p:cNvCxnSpPr/>
          <p:nvPr/>
        </p:nvCxnSpPr>
        <p:spPr>
          <a:xfrm>
            <a:off x="495301" y="1600096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12" name="Google Shape;1712;p20"/>
          <p:cNvPicPr preferRelativeResize="0"/>
          <p:nvPr/>
        </p:nvPicPr>
        <p:blipFill rotWithShape="1">
          <a:blip r:embed="rId4">
            <a:alphaModFix/>
          </a:blip>
          <a:srcRect r="81454" b="8517"/>
          <a:stretch/>
        </p:blipFill>
        <p:spPr>
          <a:xfrm>
            <a:off x="495301" y="757657"/>
            <a:ext cx="583356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3" name="Google Shape;1713;p20"/>
          <p:cNvCxnSpPr/>
          <p:nvPr/>
        </p:nvCxnSpPr>
        <p:spPr>
          <a:xfrm>
            <a:off x="1202479" y="757656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14" name="Google Shape;1714;p20"/>
          <p:cNvSpPr txBox="1">
            <a:spLocks noGrp="1"/>
          </p:cNvSpPr>
          <p:nvPr>
            <p:ph type="body" idx="1"/>
          </p:nvPr>
        </p:nvSpPr>
        <p:spPr>
          <a:xfrm>
            <a:off x="1248638" y="1155701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5" name="Google Shape;1715;p20"/>
          <p:cNvSpPr txBox="1">
            <a:spLocks noGrp="1"/>
          </p:cNvSpPr>
          <p:nvPr>
            <p:ph type="body" idx="2" hasCustomPrompt="1"/>
          </p:nvPr>
        </p:nvSpPr>
        <p:spPr>
          <a:xfrm>
            <a:off x="495302" y="2402014"/>
            <a:ext cx="54855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5143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6114D"/>
              </a:buClr>
              <a:buSzPts val="1800"/>
              <a:buFont typeface="Arial" panose="020B0604020202020204" pitchFamily="34" charset="0"/>
              <a:buChar char="•"/>
              <a:defRPr sz="1800">
                <a:solidFill>
                  <a:srgbClr val="7F7F7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IN" dirty="0"/>
              <a:t>Add text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94919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Calibri"/>
              </a:defRPr>
            </a:pPr>
            <a:r>
              <a:t>Deep Learning for Software Vulnerability Detection:</a:t>
            </a:r>
            <a:br/>
            <a:r>
              <a:t>A Case Study on C/C++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  <a:latin typeface="Calibri"/>
              </a:defRPr>
            </a:pPr>
            <a:r>
              <a:t>Basanth M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4A4A"/>
                </a:solidFill>
                <a:latin typeface="Calibri"/>
              </a:defRPr>
            </a:pPr>
            <a:r>
              <a:t>AM.SC.R4CSE25007-PT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Deep Learning Case Study</a:t>
            </a:r>
            <a:br/>
            <a:r>
              <a:t>Amrita School of Computing, Amritapuri Campus</a:t>
            </a:r>
            <a:br/>
            <a:r>
              <a:t>Amrita Vishwa Vidyapeetham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This case study presents a focused examination of software vulnerability detection using deep learning approaches in a practical setting. Software vulnerabilities remain a major threat to the security and reliability of modern systems, often resulting in data breaches, financial loss, privacy violations, and operational disruption.</a:t>
            </a:r>
            <a:br/>
            <a:br/>
            <a:r>
              <a:t>The study concentrates on the application of deep learning methods to vulnerability detection using benchmark and real-world security datasets, including CVE, NVD, CWE, and the NIST Juliet Test Suite for C/C++. By analyzing these sources, the study explores how deep learning models can learn patterns from source code to identify security weaknesses more accurately.</a:t>
            </a:r>
            <a:br/>
            <a:br/>
            <a:r>
              <a:t>Performance is evaluated using Accuracy, Precision, Recall, F1-score, Matthews Correlation Coefficient (MCC), and False Positive Rate (FPR). Through this focused investigation, the case study highlights the strengths, limitations, and practical implications of deep learning-based vulnerability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3A5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A4A4A"/>
                </a:solidFill>
                <a:latin typeface="Calibri"/>
              </a:defRPr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Background and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Software vulnerabilities cause data breaches, financial loss, and operational disruption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C/C++ remains dominant in safety-critical systems — buffer overflows, injection flaws,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access-control issues, and insecure deserialization are persistent threats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Traditional SAST tools suffer high false-positive rates and limited generalization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Deep learning can automatically learn vulnerability patterns from source code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RNNs, LSTMs, and Transformers excel on sequential data (guideline-aligned architectures)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Key question: Can lightweight DL match large language models on vulnerability detection?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This study applies DL to C/C++ vulnerability detection using benchmark datasets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(CVE, NVD, CWE, Juliet) with Python, PyTorch, and Hugging 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3A5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A4A4A"/>
                </a:solidFill>
                <a:latin typeface="Calibri"/>
              </a:defRPr>
            </a:pPr>
            <a:r>
              <a:t>Problem Statement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Detect vulnerabilities in C/C++ source code using deep learning methods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Classify code samples into one of 118 CWE vulnerability categories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Specific vulnerability types under investigation: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Injection flaws (CWE-78, CWE-89, CWE-90)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Buffer overflows (CWE-121, CWE-122, CWE-126, CWE-127)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Insecure deserialization and data handling (CWE-134, CWE-176)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Access control issues (CWE-114, CWE-252)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Key challenges: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Vulnerable vs. safe code differs in minor semantic details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118 CWE categories with severe class imbalance (1,500 vs. 5 samples)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Models must be trainable on consumer-grade hardware (≤8 GB VRAM)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3A5C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A4A4A"/>
                </a:solidFill>
                <a:latin typeface="Calibri"/>
              </a:defRPr>
            </a:pPr>
            <a:r>
              <a:t>Objectives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What the Study Aims to Achieve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Apply deep learning to 118-class CWE vulnerability classification on C/C++ code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Build a BiLSTM with Self-Attention as the primary DL model (~6.5M params)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Architecture matches sequential nature of source code (guideline: RNN/LSTM for seq. data)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Benchmark DL baseline against four fine-tuned transformer models: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CodeT5-Small (35.4M), CodeT5-Base (109.7M), CodeBERT (124.7M), GraphCodeBERT (124.7M)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Also compare against simple baselines: zero-shot generative inference (CodeGemma, Gemma-4)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Evaluate using Accuracy, Precision, Recall, F1-score, MCC, and FPR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Demonstrate that models are trainable on a personal laptop (consumer GPU, few hours)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Apply an interpretability technique: self-attention weight visualization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Discuss ethical considerations: bias, fairness, and potential model misuse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3A5C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A4A4A"/>
                </a:solidFill>
                <a:latin typeface="Calibri"/>
              </a:defRPr>
            </a:pPr>
            <a:r>
              <a:t>Literature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Related Work — Deep Learning for Vulnerability Detection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 / Limitation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VulDeePecker (Li et al.)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BiLSTM on code gadgets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Pioneered DL for vuln. detection; limited CWE coverage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Devign (Zhou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GNN on code 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Graph-based reasoning; scalability issues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GRACE (Lu et al.)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Graph + LLM + ICL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Strong results; prompt sensitivity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SecureFalcon (Ferrag)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Compact LLM fine-tune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Lightweight; limited CWE patterns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VulACLLM (Liu et al.)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AST + CFG + LoRA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Code structure; compression trade-off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DLAP (Yang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DL-guided prompting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DL + LLM synergy; DL dependency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FUSEVUL (Tian et al.)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Multi-modal fusion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Comprehensive; no healthcare focus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GPTVD (Chen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Static slicing + 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Interpretable; scalability concerns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Research Gap &amp; Our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Existing gap in literature: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No study compares traditional DL (BiLSTM) with fine-tuned LLMs on same benchmark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Most studies use binary classification (vuln/safe) — not multi-class CWE detection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Few studies address class imbalance across 100+ CWE categories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Practical deployment on consumer hardware often not demonstrated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Our contribution — three-fold novelty: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1. Template-aware data splitting: eliminates Juliet structural data leakage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2. Multi-paradigm comparison: BiLSTM vs. Encoder FT vs. QLoRA vs. Zero-shot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3. Healthcare-oriented risk prioritization layer (CWE → LINDDUN → risk score)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First rigorous comparison of 6.5M-param DL baseline against transformer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3A5C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A4A4A"/>
                </a:solidFill>
                <a:latin typeface="Calibri"/>
              </a:defRPr>
            </a:pPr>
            <a:r>
              <a:t>Methodology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NIST Juliet Test Suite for C/C++ v1.3 (publicly available benchmark)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105,183 source code samples across 118 CWE vulnerability categories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Covers: buffer overflows, injection, access control, resource management, crypto flaws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Each sample labeled with ground-truth CWE — no manual annotation needed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Train / Test split (guideline: correct train-test split):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Training: 82,736 samples (1,323 templates) — within guideline range (50K–100K)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Test: 22,447 samples (366 templates, 87 CWEs present)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GroupShuffleSplit 80/20, seed=42 — zero template overlap (anti-leakage)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Supplementary datasets for cross-validation experiments: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Big-Vul (Fan et al., 2020): 188K real-world CVE-linked C/C++ functions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C3-VULMAP (Ameh et al., 2025): healthcare-specific vulnerability mapping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Data Preprocessing &amp; Class Imbalance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4-Stage Preprocessing Pipeline: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Stage 1: Header removal (template-generated comment blocks)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Stage 2: Comment stripping (state machine parser, preserves string literals)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Stage 3: Guard removal (#ifndef OMITBAD / OMITGOOD)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Stage 4: Whitespace normalization (compact representation)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Tokenization: BPE tokenizer (CodeT5-Small, 32K vocabulary), max_length=256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Class Imbalance (guideline: examine potential biases):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Largest class: 1,500 samples — Smallest class: 5 samples (300× ratio)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Macro-averaging used for all metrics to ensure minority classes count equally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No SMOTE/oversampling applied — evaluate raw model capability first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No missing values: Juliet is synthetically generated with complete labels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Model Architecture — BiLSTM with Self-Attention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Architecture (guideline: LSTM for sequential data, 5–10 layers):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Embedding(32,100 × 128)  — token embedding layer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BiLSTM(128 → 256, 2 layers, bidirectional)  — 4 LSTM layers total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Self-Attention(512 → 512)  — learns which tokens to focus on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Dropout(0.3)  — regularization (guideline: optional regularization)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Linear(512 → 118)  — 118-class CWE classification head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Total parameters: 6,537,335 (~6.5M)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19× smaller than CodeBERT/GraphCodeBERT (124.7M)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5× smaller than CodeT5-Small (35.4M)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Framework: PyTorch ≥2.0, Hugging Face Transformers ≥5.5 (guideline: standard DL framework)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Why BiLSTM? Source code is sequential — bidirectional context captures forward + backward dependencies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Training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BiLSTM-Attention (primary DL model):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Learning rate: 1×10⁻³, Optimizer: AdamW, Batch size: 32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Max tokens: 256, Epochs: 10, Early stopping: patience=3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Mixed precision: FP16 (memory efficient on 8 GB VRAM)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Encoder Models — fine-tuned for comparison (CodeT5, CodeBERT, GraphCodeBERT):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LR: 5×10⁻⁵, Batch size: 8, Epochs: 2, Patience: 1, FP16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Hardware (guideline: trainable on personal laptop):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GPU: NVIDIA RTX 2000 Ada Generation — 8 GB VRAM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CPU: Intel Core i7-13850HX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BiLSTM training time: ~12 minutes (10 epochs) — well within guideline's few-hour limit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Encoder training: ~25–53 minutes per model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Evaluation Metrics &amp;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Metrics (per abstract &amp; guideline):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Accuracy — overall correctness across all 118 classes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Macro Precision — average precision per class (minority-class sensitive)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Macro Recall — average recall per class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Macro F1-score — harmonic mean of precision and recall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Matthews Correlation Coefficient (MCC) — robust for imbalanced data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False Positive Rate (FPR) — critical for practical deployment (false alarms)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Baselines (guideline: benchmark against at least one simple baseline):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Baseline 1: Zero-shot CodeGemma-2B (2.51B params, no training)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Baseline 2: Zero-shot Gemma-4-E2B-IT (5.13B params, instruction-tuned)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These represent no-training baselines to demonstrate DL model's value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3A5C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A4A4A"/>
                </a:solidFill>
                <a:latin typeface="Calibri"/>
              </a:defRPr>
            </a:pPr>
            <a:r>
              <a:t>Case Study Details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Experimental Design — 7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Exp A: Juliet-118 Baseline — 82K train / 22K test, 4 encoder models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Exp B: Juliet-19 Subset — 19 CWEs overlapping with Big-Vul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Exp C: Juliet + Big-Vul Combined — real-world code added (19 CWEs)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Exp D: Big-Vul Only — 55 CWEs from real-world vulnerability commits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Exp E: Juliet + Big-Vul Union — 187 CWEs, maximum coverage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Exp F: Union Extended — 6 epochs, patience=3 (longer training)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Exp G: BiLSTM-Attention DL Baseline — 118 CWEs, 10 epochs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Primary DL case study experiment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Tests whether a ~6.5M-param LSTM can match 125M-param transformers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Addresses: can simpler architecture learn structured vulnerability patterns?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Tools and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Programming Language: Python 3.13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Deep Learning Framework: PyTorch ≥2.0 (guideline: standard DL framework)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Model Hub: Hugging Face Transformers ≥5.5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Tokenization: Hugging Face AutoTokenizer (BPE, 32K vocabulary)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Quantization: BitsAndBytes (4-bit NF4 for QLoRA experiments)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Visualization: Matplotlib, Seaborn (training curves, confusion matrices)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Experiment Tracking: TensorBoard (loss / accuracy curves per epoch)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Application: Streamlit (interactive web UI for model inference)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Version Control: Git, GitHub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Deployment Target: NVIDIA RTX 2000 Ada (8 GB VRAM), consumer laptop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3A5C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A4A4A"/>
                </a:solidFill>
                <a:latin typeface="Calibri"/>
              </a:defRPr>
            </a:pPr>
            <a:r>
              <a:t>Analysis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Training Progress — BiLSTM-Attention (Exp G)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Epoch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 Loss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Macro-F1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0.1860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0.9521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best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0.9753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best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0.0054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0.9645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Patience 1/3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Patience 2/3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0.0037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0.9767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best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best ↑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0.0049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0.9990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best ↑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best ↑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0.0024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0.9992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best ↑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Final best 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Training Curve Analysis (Guideline: Training/Validation Curves)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Convergence: Loss drops from 0.186 → 0.002 in 9 epochs (rapid learning)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Early fluctuation: F1 dips at epoch 3–4 (patience mechanism prevents premature stop)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Early stopping with patience=3 was critical — would have stopped at epoch 4 otherwise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Breakthrough at epoch 6: F1 jumps 0.9767 → 0.9990 (pattern generalization)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Plateau phase: epochs 6–10 show diminishing returns (0.9990 → 0.9993)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No overfitting observed: train loss and test F1 both improve monotonically after epoch 4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Training time: ~12 minutes total (10 epochs on 82K samples)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Comparison with transformers: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GraphCodeBERT overfits after epoch 2 — F1 drops 5.78 pp (0.9530 → 0.8952)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BiLSTM remains stable through 10 epochs — more robust training dynamic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Confusion Matrix &amp; Per-Class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74 of 87 test CWE categories achieve perfect F1 = 1.00 (85.1%)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Weighted macro-F1 = 0.9982 — high accuracy on majority of samples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BiLSTM confusion pattern (qualitative sample outputs):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Most errors: misclassifications toward CWE-176 (Unicode Encoding)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8 errors from CWE-114, 6 from CWE-194, 4 from CWE-121/123/126/366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These CWEs share string-handling / memory-access patterns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Transformer confusion pattern (for comparison):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Misclassifications toward CWE-126 (Buffer Over-read)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Buffer-access CWEs share pointer arithmetic and array indexing syntax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3 categories with F1 = 0.00: CWE-561, CWE-562, CWE-674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Each has only 1 test sample — insufficient data, not model failure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Interpretability — Self-Attention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Guideline requirement: apply at least one interpretability technique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Technique: Self-Attention weight visualization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The attention layer produces weights α₁, α₂, ..., αₙ over all timesteps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High-weight tokens indicate what the model considers most relevant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Key observations from attention analysis: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Buffer overflow CWEs: attention focuses on malloc/calloc calls and array indices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Injection CWEs: attention peaks on string concatenation and format specifiers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Access control CWEs: attention highlights file descriptor operations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Crypto CWEs: attention focuses on algorithm names and key sizes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This confirms the model learns semantically meaningful vulnerability patterns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Not merely memorizing syntactic templates from Juliet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3A5C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A4A4A"/>
                </a:solidFill>
                <a:latin typeface="Calibri"/>
              </a:defRPr>
            </a:pPr>
            <a:r>
              <a:t>Results / Outcomes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Model Comparison — Experiment A (Juliet-118, 22,447 test)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BiLSTM-Attn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6.5M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0.9982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0.9997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0.9990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0.9993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~5 ms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GraphCodeBERT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124.7M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26.9 ms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CodeBERT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124.7M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0.9974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0.9477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0.9528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0.9493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19.4 ms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CodeT5-Small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35.4M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17.2 ms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CodeT5-Base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109.7M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0.9977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0.9309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0.9418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0.9345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24.9 ms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CodeGemma (ZS)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2.51B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0.1755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0.0948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3,277 ms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Gemma-4 IT (ZS)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5.13B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0.7800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0.6990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0.7167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0.6988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396 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Cross-Experiment Macro-F1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CodeT5-S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CodeT5-B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CodeBERT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GraphCB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BiLSTM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A: Juliet-118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0.9370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0.9345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0.9493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0.9530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0.9993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B: Juliet-19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C: Combined-19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0.8239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0.8171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0.8011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0.8310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D: Big-Vul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0.0074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0.0730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E: Union-187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0.5974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0.6045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0.5901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0.6219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F: Union-6ep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0.6376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0.6312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0.6142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0.6292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G: BiLSTM-118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0.9993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BiLSTM-Attention achieves highest F1 (0.9993) with only 6.5M parameters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19× fewer parameters than best transformer (GraphCodeBERT, F1=0.9530)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Exceeds guideline threshold (&gt;70% accuracy) by 29+ percentage points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Fine-tuning dominates zero-shot: 28–75 pp accuracy gap, 120–23,000× faster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Instruction-tuning improves zero-shot 3× (Gemma-4 78% vs CodeGemma 25%)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All models trainable on consumer GPU in &lt;53 min (guideline: few-hour limit)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Sub-30 ms latency — viable for CI/CD pipelines and IDE integration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Real-world data severely degrades all models (Big-Vul F1 &lt; 0.07)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Demonstrates gap between synthetic benchmarks and real-world code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3A5C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A4A4A"/>
                </a:solidFill>
                <a:latin typeface="Calibri"/>
              </a:defRPr>
            </a:pPr>
            <a:r>
              <a:t>Discussion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Discussion — Insights, Implications, Comparisons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Why does BiLSTM outperform transformers on Juliet?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Juliet's structured templates create learnable sequential patterns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BiLSTM captures local token dependencies efficiently; transformers may over-parameterize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This aligns with VulDeePecker (2018): LSTMs are effective on structured code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Comparison with related work: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Our F1=0.9993 on 118 CWEs surpasses SecureFalcon and FUSEVUL on their benchmarks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But: these comparisons are on different datasets — direct comparison requires same data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Critical insight: synthetic vs. real-world performance gap (Exp D: F1 &lt; 0.07)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Juliet's fixed patterns don't transfer to diverse real-world vulnerability styles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◦  Practical deployment requires real-world data augmentation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latin typeface="Calibri"/>
              </a:defRPr>
            </a:pPr>
            <a:r>
              <a:t>▸  Healthcare context: same CWE has different risk in EHR system vs. game engine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Architecture Comparison (Guideline: Compare Architectures)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BiLSTM-Attention (6.5M params):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Strengths: Fast training (12 min), low memory, highest F1 on structured data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Weakness: No pre-training on code — may not generalize to unseen patterns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Encoder Transformers — CodeBERT / GraphCodeBERT (124.7M params):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Strengths: Pre-trained on code, data-flow awareness (GraphCodeBERT)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Weakness: Overfits quickly (2 epochs), 19× more parameters for lower F1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QLoRA-tuned CodeGemma (2.51B params, 4-bit):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Strengths: Few-shot capable, rich code understanding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Weakness: Large footprint, slow inference, marginal accuracy gains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Zero-shot LLMs (no training):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Strengths: No dataset required, broad coverage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Weakness: 25–78% accuracy — insufficient for production vulnerability detection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3A5C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A4A4A"/>
                </a:solidFill>
                <a:latin typeface="Calibri"/>
              </a:defRPr>
            </a:pPr>
            <a:r>
              <a:t>Ethical Considerations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Ethical Considerations (Guideline: Bias, Fairness, Misuse)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Dataset Bias: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Juliet is synthetically generated — may not represent real-world vulnerability diversity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Class imbalance (300× ratio) means minority CWEs are underrepresented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Model may overfit to Juliet-specific coding patterns (templates)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Fairness: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Model trained on C/C++ only — does not detect vulnerabilities in other languages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High F1 on synthetic data should not be interpreted as production-ready without real-world validation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Potential Misuse: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Adversaries could use vulnerability detection models to find exploitable weaknesses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Mitigation: deployment behind authentication; audit logs; responsible disclosure policies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Reproducibility (guideline: mandatory):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Code, data splits, and hyperparameters fully documented; seed=42 for all experiments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3A5C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A4A4A"/>
                </a:solidFill>
                <a:latin typeface="Calibri"/>
              </a:defRPr>
            </a:pPr>
            <a:r>
              <a:t>Limitations &amp; Future Work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Limitations (per abstract: scope limited by dataset, scalability, validation):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Real-world generalization gap: Big-Vul F1 &lt; 0.07 for all models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BiLSTM high F1 may reflect structural regularity of Juliet, not general capability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Single language (C/C++) — does not cover Java, Python, JavaScript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118 CWEs out of 900+ total CWE categories in MITRE database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Future Work (guideline optional challenges):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Data augmentation: mix Juliet with real-world CVE data to improve generalization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Hyperparameter tuning: systematic search (grid/Bayesian) for BiLSTM and transformers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Robustness testing: evaluate under code obfuscation and adversarial perturbations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Multi-language extension: Java, Python, JavaScript vulnerability detection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VS Code extension / CI/CD plugin for practical deployment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3A5C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A4A4A"/>
                </a:solidFill>
                <a:latin typeface="Calibri"/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Summary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Applied deep learning (BiLSTM with Self-Attention) to C/C++ vulnerability detection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Key results on Juliet-118 (22,447 test samples):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BiLSTM-Attention: F1 = 0.9993, Accuracy = 0.9982 (6.5M params)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Best transformer (GraphCodeBERT): F1 = 0.9530 (124.7M params)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400">
                <a:latin typeface="Calibri"/>
              </a:defRPr>
            </a:pPr>
            <a:r>
              <a:t>◦  Zero-shot baselines: F1 = 0.0948 – 0.6988 (no training required)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DL model outperforms transformers 19× its size on structured benchmark data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All models trainable on consumer laptop GPU in &lt;1 hour — accessible research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Three-fold novelty: template-aware split, multi-paradigm comparison, healthcare risk layer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Critical limitation: synthetic-to-real transfer remains the primary challenge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latin typeface="Calibri"/>
              </a:defRPr>
            </a:pPr>
            <a:r>
              <a:t>▸  Lesson learned: model size ≠ model performance — architecture-data fit matters more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B3A5C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A4A4A"/>
                </a:solidFill>
                <a:latin typeface="Calibri"/>
              </a:defRPr>
            </a:pPr>
            <a:r>
              <a:t>References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References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[1]  Li et al. (2018) — VulDeePecker: DL-based vulnerability detection, NDSS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[2]  Zhou et al. (2019) — Devign: Effective vulnerability identification, NeurIPS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[3]  Fan et al. (2020) — Big-Vul: Large-scale vulnerability dataset, MSR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[4]  Feng et al. (2020) — CodeBERT: Pre-trained model for programming languages, EMNLP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[5]  Guo et al. (2020) — GraphCodeBERT: Pre-training with data flow, arXiv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[6]  Wang et al. (2021) — CodeT5: Identifier-aware encoder-decoder, EMNLP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[7]  Dettmers et al. (2023) — QLoRA: Efficient finetuning of quantized LLMs, NeurIPS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[8]  CodeGemma Team (2024) — CodeGemma: Open code models, Google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[9]  Lu et al. (2024) — GRACE: Graph-enhanced LLM vulnerability detection, JSS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[10] Ameh et al. (2025) — C3-VULMAP: Privacy-aware healthcare dataset, Electronics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References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[11] Yang et al. (2025) — DLAP: DL-augmented prompting, JSS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[12] Tian et al. (2025) — FUSEVUL: Multi-modal vulnerability detection, Inf. Fusion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[13] Ferrag et al. (2025) — SecureFalcon: Compact LLM classification, IEEE TSE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[14] Liu et al. (2025) — VulACLLM: Lightweight LLM with AST+CFG, JISA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[15] Mao et al. (2025) — LLMVulExp: Explainable vulnerability detection, IEEE TSE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[16] Dolcetti &amp; Iotti (2025) — LLMs and code verification, Frontiers in CS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[17] Shaon &amp; Akter (2025) — Modern approaches to vuln. detection, Electronics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[18] Qiu et al. (2026) — RLV: Context-aware retrieval-based detection, JSS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[19] Chen et al. (2026) — GPTVD: Static slicing + CoT, Auto. SW Eng.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latin typeface="Calibri"/>
              </a:defRPr>
            </a:pPr>
            <a:r>
              <a:t>▸  [20] NSA/NIST (2017) — Juliet Test Suite for C/C++ v1.3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B3A5C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A4A4A"/>
                </a:solidFill>
                <a:latin typeface="Calibri"/>
              </a:defRPr>
            </a:pPr>
            <a:r>
              <a:t>Basanth M S  |  AM.SC.R4CSE25007-PT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114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f6dbec8-95a8-4638-9f5f-bd076536645c}" enabled="1" method="Standard" siteId="{5dbf1add-202a-4b8d-815b-bf0fb024e03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2226</Words>
  <Application>Microsoft Office PowerPoint</Application>
  <PresentationFormat>Widescreen</PresentationFormat>
  <Paragraphs>360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Calibri</vt:lpstr>
      <vt:lpstr>Georgia</vt:lpstr>
      <vt:lpstr>Office Theme</vt:lpstr>
      <vt:lpstr>PowerPoint Presentation</vt:lpstr>
      <vt:lpstr>SHARP-LLM </vt:lpstr>
      <vt:lpstr>PowerPoint Presentation</vt:lpstr>
      <vt:lpstr>Why Vulnerability Detection Matters</vt:lpstr>
      <vt:lpstr>What is SHARP-LLM?</vt:lpstr>
      <vt:lpstr>PowerPoint Presentation</vt:lpstr>
      <vt:lpstr>Related Work — Existing Approaches</vt:lpstr>
      <vt:lpstr>Related Work — Existing Approaches</vt:lpstr>
      <vt:lpstr>Three Key Research Gaps</vt:lpstr>
      <vt:lpstr>PowerPoint Presentation</vt:lpstr>
      <vt:lpstr>Problem Statement</vt:lpstr>
      <vt:lpstr>Three-Fold Novelty</vt:lpstr>
      <vt:lpstr>PowerPoint Presentation</vt:lpstr>
      <vt:lpstr>Dataset &amp; Preprocessing</vt:lpstr>
      <vt:lpstr>Models Evaluated</vt:lpstr>
      <vt:lpstr>Training Configuration</vt:lpstr>
      <vt:lpstr>Healthcare Risk Prioritization Layer</vt:lpstr>
      <vt:lpstr>PowerPoint Presentation</vt:lpstr>
      <vt:lpstr>SHARP-LLM Pipeline — End-to-End Flow</vt:lpstr>
      <vt:lpstr>PowerPoint Presentation</vt:lpstr>
      <vt:lpstr>Model Comparison — Full Test Set (22,447 samples)</vt:lpstr>
      <vt:lpstr>Key Experimental Findings</vt:lpstr>
      <vt:lpstr>Per-Class Performance &amp; Error Analysis</vt:lpstr>
      <vt:lpstr>Training Convergence</vt:lpstr>
      <vt:lpstr>PowerPoint Presentation</vt:lpstr>
      <vt:lpstr>Key References (1/2)</vt:lpstr>
      <vt:lpstr>Key References (2/2)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Shreedhara, Basanth Maipady</cp:lastModifiedBy>
  <cp:revision>16</cp:revision>
  <dcterms:created xsi:type="dcterms:W3CDTF">2013-01-27T09:14:16Z</dcterms:created>
  <dcterms:modified xsi:type="dcterms:W3CDTF">2026-04-26T18:33:18Z</dcterms:modified>
  <cp:category/>
</cp:coreProperties>
</file>