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467" r:id="rId2"/>
    <p:sldId id="256" r:id="rId3"/>
    <p:sldId id="468" r:id="rId4"/>
    <p:sldId id="469" r:id="rId5"/>
    <p:sldId id="470" r:id="rId6"/>
    <p:sldId id="471" r:id="rId7"/>
    <p:sldId id="472" r:id="rId8"/>
    <p:sldId id="493" r:id="rId9"/>
    <p:sldId id="473" r:id="rId10"/>
    <p:sldId id="474" r:id="rId11"/>
    <p:sldId id="475" r:id="rId12"/>
    <p:sldId id="476" r:id="rId13"/>
    <p:sldId id="477" r:id="rId14"/>
    <p:sldId id="478" r:id="rId15"/>
    <p:sldId id="479" r:id="rId16"/>
    <p:sldId id="480" r:id="rId17"/>
    <p:sldId id="481" r:id="rId18"/>
    <p:sldId id="482" r:id="rId19"/>
    <p:sldId id="483" r:id="rId20"/>
    <p:sldId id="484" r:id="rId21"/>
    <p:sldId id="485" r:id="rId22"/>
    <p:sldId id="486" r:id="rId23"/>
    <p:sldId id="487" r:id="rId24"/>
    <p:sldId id="488" r:id="rId25"/>
    <p:sldId id="489" r:id="rId26"/>
    <p:sldId id="490" r:id="rId27"/>
    <p:sldId id="491" r:id="rId28"/>
    <p:sldId id="492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412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848B32-384E-4CE1-A037-D20B29FAB1C2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905155-F6A5-441C-B65E-14B7E9EAD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363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 1 1">
  <p:cSld name="4_Custom Layout 1 1">
    <p:spTree>
      <p:nvGrpSpPr>
        <p:cNvPr id="1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7" name="Google Shape;1717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6284784"/>
            <a:ext cx="12218981" cy="574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8" name="Google Shape;1718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04389" y="6389103"/>
            <a:ext cx="1602539" cy="360290"/>
          </a:xfrm>
          <a:prstGeom prst="rect">
            <a:avLst/>
          </a:prstGeom>
          <a:noFill/>
          <a:ln>
            <a:noFill/>
          </a:ln>
        </p:spPr>
      </p:pic>
      <p:sp>
        <p:nvSpPr>
          <p:cNvPr id="1719" name="Google Shape;1719;p21"/>
          <p:cNvSpPr txBox="1">
            <a:spLocks noGrp="1"/>
          </p:cNvSpPr>
          <p:nvPr>
            <p:ph type="sldNum" idx="12"/>
          </p:nvPr>
        </p:nvSpPr>
        <p:spPr>
          <a:xfrm>
            <a:off x="190501" y="638106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0" name="Google Shape;1720;p21"/>
          <p:cNvSpPr txBox="1">
            <a:spLocks noGrp="1"/>
          </p:cNvSpPr>
          <p:nvPr>
            <p:ph type="title"/>
          </p:nvPr>
        </p:nvSpPr>
        <p:spPr>
          <a:xfrm>
            <a:off x="1248637" y="757654"/>
            <a:ext cx="105156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4000"/>
              <a:buFont typeface="Georgia"/>
              <a:buNone/>
              <a:defRPr sz="4000" b="0">
                <a:solidFill>
                  <a:srgbClr val="A4123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721" name="Google Shape;1721;p21"/>
          <p:cNvCxnSpPr/>
          <p:nvPr/>
        </p:nvCxnSpPr>
        <p:spPr>
          <a:xfrm>
            <a:off x="495301" y="1600096"/>
            <a:ext cx="11049000" cy="0"/>
          </a:xfrm>
          <a:prstGeom prst="straightConnector1">
            <a:avLst/>
          </a:prstGeom>
          <a:noFill/>
          <a:ln w="9525" cap="flat" cmpd="sng">
            <a:solidFill>
              <a:srgbClr val="A4123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22" name="Google Shape;1722;p21"/>
          <p:cNvPicPr preferRelativeResize="0"/>
          <p:nvPr/>
        </p:nvPicPr>
        <p:blipFill rotWithShape="1">
          <a:blip r:embed="rId4">
            <a:alphaModFix/>
          </a:blip>
          <a:srcRect r="81454" b="8525"/>
          <a:stretch/>
        </p:blipFill>
        <p:spPr>
          <a:xfrm>
            <a:off x="495301" y="757657"/>
            <a:ext cx="583356" cy="712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3" name="Google Shape;1723;p21"/>
          <p:cNvCxnSpPr/>
          <p:nvPr/>
        </p:nvCxnSpPr>
        <p:spPr>
          <a:xfrm>
            <a:off x="1202479" y="757655"/>
            <a:ext cx="0" cy="703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2344726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 1">
  <p:cSld name="4_Custom Layout 1">
    <p:spTree>
      <p:nvGrpSpPr>
        <p:cNvPr id="1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7" name="Google Shape;1707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6284784"/>
            <a:ext cx="12218981" cy="574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8" name="Google Shape;1708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04389" y="6389103"/>
            <a:ext cx="1602539" cy="360290"/>
          </a:xfrm>
          <a:prstGeom prst="rect">
            <a:avLst/>
          </a:prstGeom>
          <a:noFill/>
          <a:ln>
            <a:noFill/>
          </a:ln>
        </p:spPr>
      </p:pic>
      <p:sp>
        <p:nvSpPr>
          <p:cNvPr id="1709" name="Google Shape;1709;p20"/>
          <p:cNvSpPr txBox="1">
            <a:spLocks noGrp="1"/>
          </p:cNvSpPr>
          <p:nvPr>
            <p:ph type="sldNum" idx="12"/>
          </p:nvPr>
        </p:nvSpPr>
        <p:spPr>
          <a:xfrm>
            <a:off x="190501" y="638106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0" name="Google Shape;1710;p20"/>
          <p:cNvSpPr txBox="1">
            <a:spLocks noGrp="1"/>
          </p:cNvSpPr>
          <p:nvPr>
            <p:ph type="title"/>
          </p:nvPr>
        </p:nvSpPr>
        <p:spPr>
          <a:xfrm>
            <a:off x="1248637" y="757657"/>
            <a:ext cx="105156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4000"/>
              <a:buFont typeface="Georgia"/>
              <a:buNone/>
              <a:defRPr sz="4000" b="0">
                <a:solidFill>
                  <a:srgbClr val="A4123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711" name="Google Shape;1711;p20"/>
          <p:cNvCxnSpPr/>
          <p:nvPr/>
        </p:nvCxnSpPr>
        <p:spPr>
          <a:xfrm>
            <a:off x="495301" y="1600096"/>
            <a:ext cx="11049000" cy="0"/>
          </a:xfrm>
          <a:prstGeom prst="straightConnector1">
            <a:avLst/>
          </a:prstGeom>
          <a:noFill/>
          <a:ln w="9525" cap="flat" cmpd="sng">
            <a:solidFill>
              <a:srgbClr val="A4123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12" name="Google Shape;1712;p20"/>
          <p:cNvPicPr preferRelativeResize="0"/>
          <p:nvPr/>
        </p:nvPicPr>
        <p:blipFill rotWithShape="1">
          <a:blip r:embed="rId4">
            <a:alphaModFix/>
          </a:blip>
          <a:srcRect r="81454" b="8517"/>
          <a:stretch/>
        </p:blipFill>
        <p:spPr>
          <a:xfrm>
            <a:off x="495301" y="757657"/>
            <a:ext cx="583356" cy="712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3" name="Google Shape;1713;p20"/>
          <p:cNvCxnSpPr/>
          <p:nvPr/>
        </p:nvCxnSpPr>
        <p:spPr>
          <a:xfrm>
            <a:off x="1202479" y="757656"/>
            <a:ext cx="0" cy="703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14" name="Google Shape;1714;p20"/>
          <p:cNvSpPr txBox="1">
            <a:spLocks noGrp="1"/>
          </p:cNvSpPr>
          <p:nvPr>
            <p:ph type="body" idx="1"/>
          </p:nvPr>
        </p:nvSpPr>
        <p:spPr>
          <a:xfrm>
            <a:off x="1248638" y="1155701"/>
            <a:ext cx="10515600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5" name="Google Shape;1715;p20"/>
          <p:cNvSpPr txBox="1">
            <a:spLocks noGrp="1"/>
          </p:cNvSpPr>
          <p:nvPr>
            <p:ph type="body" idx="2" hasCustomPrompt="1"/>
          </p:nvPr>
        </p:nvSpPr>
        <p:spPr>
          <a:xfrm>
            <a:off x="495302" y="2402014"/>
            <a:ext cx="5485500" cy="18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5143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6114D"/>
              </a:buClr>
              <a:buSzPts val="1800"/>
              <a:buFont typeface="Arial" panose="020B0604020202020204" pitchFamily="34" charset="0"/>
              <a:buChar char="•"/>
              <a:defRPr sz="1800">
                <a:solidFill>
                  <a:srgbClr val="7F7F7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IN" dirty="0"/>
              <a:t>Add text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29491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DC7025E-4863-6F49-AD01-8A5B65B0890F}"/>
              </a:ext>
            </a:extLst>
          </p:cNvPr>
          <p:cNvSpPr/>
          <p:nvPr/>
        </p:nvSpPr>
        <p:spPr>
          <a:xfrm>
            <a:off x="0" y="0"/>
            <a:ext cx="12192000" cy="7213600"/>
          </a:xfrm>
          <a:prstGeom prst="rect">
            <a:avLst/>
          </a:prstGeom>
          <a:solidFill>
            <a:srgbClr val="B811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80288CD4-7B52-C244-BAD4-BFF7D9DCE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131" y="2340003"/>
            <a:ext cx="4590899" cy="14731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776D66-1F2F-B348-8DC7-42BD5D86556D}"/>
              </a:ext>
            </a:extLst>
          </p:cNvPr>
          <p:cNvSpPr txBox="1"/>
          <p:nvPr/>
        </p:nvSpPr>
        <p:spPr>
          <a:xfrm>
            <a:off x="6572099" y="2412999"/>
            <a:ext cx="4744830" cy="29546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Georgia"/>
              </a:rPr>
              <a:t>Research</a:t>
            </a:r>
          </a:p>
          <a:p>
            <a:pPr algn="ctr"/>
            <a:endParaRPr lang="en-US" sz="4000" dirty="0">
              <a:solidFill>
                <a:schemeClr val="bg1"/>
              </a:solidFill>
              <a:latin typeface="Georgia"/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Georgia"/>
              </a:rPr>
              <a:t>Amrita School of Computing</a:t>
            </a:r>
          </a:p>
          <a:p>
            <a:pPr algn="ctr"/>
            <a:r>
              <a:rPr lang="en-US" sz="2400" dirty="0" err="1">
                <a:solidFill>
                  <a:schemeClr val="bg1"/>
                </a:solidFill>
                <a:latin typeface="Georgia"/>
              </a:rPr>
              <a:t>Amritapuri</a:t>
            </a:r>
            <a:r>
              <a:rPr lang="en-US" sz="2400" dirty="0">
                <a:solidFill>
                  <a:schemeClr val="bg1"/>
                </a:solidFill>
                <a:latin typeface="Georgia"/>
              </a:rPr>
              <a:t> Campus</a:t>
            </a:r>
          </a:p>
          <a:p>
            <a:pPr algn="ctr"/>
            <a:endParaRPr lang="en-US" sz="4000" dirty="0">
              <a:solidFill>
                <a:schemeClr val="bg1"/>
              </a:solidFill>
              <a:cs typeface="Calibri"/>
            </a:endParaRPr>
          </a:p>
          <a:p>
            <a:pPr algn="ctr"/>
            <a:endParaRPr lang="en-US" dirty="0">
              <a:solidFill>
                <a:schemeClr val="bg1"/>
              </a:solidFill>
              <a:latin typeface="Georgia"/>
              <a:cs typeface="Calibri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BA58083-EF1A-427F-9030-DC289843A2BF}"/>
              </a:ext>
            </a:extLst>
          </p:cNvPr>
          <p:cNvCxnSpPr>
            <a:cxnSpLocks/>
          </p:cNvCxnSpPr>
          <p:nvPr/>
        </p:nvCxnSpPr>
        <p:spPr>
          <a:xfrm>
            <a:off x="6355564" y="2058391"/>
            <a:ext cx="0" cy="2182417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1" name="Google Shape;154;p22" descr="A picture containing person, white&#10;&#10;Description automatically generated">
            <a:extLst>
              <a:ext uri="{FF2B5EF4-FFF2-40B4-BE49-F238E27FC236}">
                <a16:creationId xmlns:a16="http://schemas.microsoft.com/office/drawing/2014/main" id="{8B1E97CD-116B-7461-F600-62BBBFA559B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0568" t="1834" r="17645" b="33811"/>
          <a:stretch/>
        </p:blipFill>
        <p:spPr>
          <a:xfrm>
            <a:off x="5050621" y="235276"/>
            <a:ext cx="1614626" cy="1494417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049194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51E20C7-77F3-D31D-3E3A-73B211242FF4}"/>
              </a:ext>
            </a:extLst>
          </p:cNvPr>
          <p:cNvSpPr/>
          <p:nvPr/>
        </p:nvSpPr>
        <p:spPr>
          <a:xfrm>
            <a:off x="203200" y="969806"/>
            <a:ext cx="11508509" cy="14929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522863" y="3496734"/>
            <a:ext cx="514628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dirty="0">
                <a:latin typeface="Calibri"/>
              </a:rPr>
              <a:t>Basanth M S</a:t>
            </a:r>
            <a:r>
              <a:rPr lang="en-US" sz="1800" b="0" dirty="0">
                <a:latin typeface="Calibri"/>
              </a:rPr>
              <a:t> (AM.SC.R4CSE25007-PT)</a:t>
            </a:r>
            <a:r>
              <a:rPr sz="1800" b="0" dirty="0">
                <a:latin typeface="Calibri"/>
              </a:rPr>
              <a:t>,  </a:t>
            </a:r>
            <a:r>
              <a:rPr sz="1800" b="0" dirty="0" err="1">
                <a:latin typeface="Calibri"/>
              </a:rPr>
              <a:t>Gopakumar</a:t>
            </a:r>
            <a:r>
              <a:rPr lang="en-US" sz="1800" b="0" dirty="0">
                <a:latin typeface="Calibri"/>
              </a:rPr>
              <a:t> G</a:t>
            </a:r>
            <a:endParaRPr sz="1800" b="0" dirty="0"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78096" y="3866066"/>
            <a:ext cx="530074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 dirty="0">
                <a:latin typeface="Calibri"/>
              </a:rPr>
              <a:t>Dept. of Computer Science and Engineering, School of Computing
Amrita Vishwa Vidyapeetham, </a:t>
            </a:r>
            <a:r>
              <a:rPr sz="1500" b="0" dirty="0" err="1">
                <a:latin typeface="Calibri"/>
              </a:rPr>
              <a:t>Amritapuri</a:t>
            </a:r>
            <a:r>
              <a:rPr sz="1500" b="0" dirty="0">
                <a:latin typeface="Calibri"/>
              </a:rPr>
              <a:t>, India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32A689D-2A4C-A3D6-DE66-3B1F3D2BC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8395" y="2056139"/>
            <a:ext cx="2695210" cy="444300"/>
          </a:xfrm>
        </p:spPr>
        <p:txBody>
          <a:bodyPr/>
          <a:lstStyle/>
          <a:p>
            <a:r>
              <a:rPr lang="en-US" b="1" dirty="0">
                <a:latin typeface="Calibri"/>
              </a:rPr>
              <a:t>SHARP-LLM</a:t>
            </a:r>
            <a:br>
              <a:rPr lang="en-US" b="1" dirty="0">
                <a:latin typeface="Calibri"/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2724CE7-E606-FF30-0E96-82A52EBFB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251989"/>
            <a:ext cx="10515600" cy="444300"/>
          </a:xfrm>
        </p:spPr>
        <p:txBody>
          <a:bodyPr/>
          <a:lstStyle/>
          <a:p>
            <a:pPr algn="ctr"/>
            <a:r>
              <a:rPr lang="en-US" dirty="0">
                <a:latin typeface="Calibri"/>
              </a:rPr>
              <a:t>A Secure and Lightweight Framework for Source Code
Vulnerability Detection and Risk Prioritization in Healthcare Software</a:t>
            </a:r>
          </a:p>
          <a:p>
            <a:pPr algn="ctr"/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A07B8FB-511C-84B7-BF45-1EB5D2F6D0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291" y="320605"/>
            <a:ext cx="3046325" cy="9373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571646" y="1645920"/>
            <a:ext cx="1018227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 dirty="0">
                <a:solidFill>
                  <a:srgbClr val="A4123F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5993" y="3200400"/>
            <a:ext cx="414953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dirty="0">
                <a:latin typeface="Calibri"/>
              </a:rPr>
              <a:t>Introduction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165227-9F30-9245-CA1E-CEBEE1CD25AF}"/>
              </a:ext>
            </a:extLst>
          </p:cNvPr>
          <p:cNvSpPr/>
          <p:nvPr/>
        </p:nvSpPr>
        <p:spPr>
          <a:xfrm>
            <a:off x="508000" y="295564"/>
            <a:ext cx="11222182" cy="1496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6760" y="1749287"/>
            <a:ext cx="10698480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libri"/>
              </a:rPr>
              <a:t>▸  Software vulnerabilities cause security breaches, service disruption, and data exposure</a:t>
            </a:r>
          </a:p>
          <a:p>
            <a:r>
              <a:rPr lang="en-US" sz="2400" dirty="0">
                <a:latin typeface="Calibri"/>
              </a:rPr>
              <a:t>▸  Healthcare software is especially critical — vulnerabilities can compromise: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</a:rPr>
              <a:t>Electronic Health Records (EHR) and patient data confidentiality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</a:rPr>
              <a:t>Clinical decision support and diagnostic workflows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</a:rPr>
              <a:t>Telemedicine platforms and connected medical devices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</a:rPr>
              <a:t>Regulatory compliance (HIPAA, GDPR)</a:t>
            </a:r>
          </a:p>
          <a:p>
            <a:r>
              <a:rPr lang="en-US" sz="2400" dirty="0">
                <a:latin typeface="Calibri"/>
              </a:rPr>
              <a:t>▸  Traditional SAST tools have high false-positive rates and limited generalization</a:t>
            </a:r>
          </a:p>
          <a:p>
            <a:r>
              <a:rPr lang="en-US" sz="2400" dirty="0">
                <a:latin typeface="Calibri"/>
              </a:rPr>
              <a:t>▸  LLM-based approaches show promise but are often computationally expensive</a:t>
            </a:r>
          </a:p>
          <a:p>
            <a:r>
              <a:rPr lang="en-US" sz="2400" dirty="0">
                <a:latin typeface="Calibri"/>
              </a:rPr>
              <a:t>▸  No existing framework combines lightweight detection with healthcare-oriented risk prioritization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02C412-00CB-657E-E885-D6D72CC6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7" y="757654"/>
            <a:ext cx="9247085" cy="421500"/>
          </a:xfrm>
        </p:spPr>
        <p:txBody>
          <a:bodyPr/>
          <a:lstStyle/>
          <a:p>
            <a:r>
              <a:rPr lang="en-US" dirty="0"/>
              <a:t>Why Vulnerability Detection Matters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6760" y="1749287"/>
            <a:ext cx="10698480" cy="443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40" dirty="0">
                <a:latin typeface="Calibri"/>
              </a:rPr>
              <a:t>▸  Secure Healthcare-Code Vulnerability Analysis and Risk Prediction via Lightweight LLMs</a:t>
            </a:r>
          </a:p>
          <a:p>
            <a:r>
              <a:rPr lang="en-US" sz="2540" dirty="0">
                <a:latin typeface="Calibri"/>
              </a:rPr>
              <a:t>▸  A secure and lightweight framework for source code vulnerability detection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159" dirty="0">
                <a:latin typeface="Calibri"/>
              </a:rPr>
              <a:t>Classifies C/C++ code into 118 CWE categories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159" dirty="0">
                <a:latin typeface="Calibri"/>
              </a:rPr>
              <a:t>Fine-tuned lightweight LLMs (35M–125M parameters)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159" dirty="0">
                <a:latin typeface="Calibri"/>
              </a:rPr>
              <a:t>Runs on consumer-grade GPU (8 GB VRAM)</a:t>
            </a:r>
          </a:p>
          <a:p>
            <a:r>
              <a:rPr lang="en-US" sz="2540" dirty="0">
                <a:latin typeface="Calibri"/>
              </a:rPr>
              <a:t>▸  Healthcare-oriented risk prioritization layer: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159" dirty="0">
                <a:latin typeface="Calibri"/>
              </a:rPr>
              <a:t>Maps CWEs to LINDDUN privacy threat types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159" dirty="0">
                <a:latin typeface="Calibri"/>
              </a:rPr>
              <a:t>Links to policy-relevant control domains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159" dirty="0">
                <a:latin typeface="Calibri"/>
              </a:rPr>
              <a:t>Produces ordinal priority levels (Critical / High / Medium / Low)</a:t>
            </a:r>
          </a:p>
          <a:p>
            <a:r>
              <a:rPr lang="en-US" sz="2540" dirty="0">
                <a:latin typeface="Calibri"/>
              </a:rPr>
              <a:t>▸  Sub-30 ms inference latency — viable for CI/CD, IDE plugins, real-time code review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02C412-00CB-657E-E885-D6D72CC6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7" y="757654"/>
            <a:ext cx="9247085" cy="421500"/>
          </a:xfrm>
        </p:spPr>
        <p:txBody>
          <a:bodyPr/>
          <a:lstStyle/>
          <a:p>
            <a:r>
              <a:rPr lang="en-US" dirty="0"/>
              <a:t>What is SHARP-LLM?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571646" y="1645920"/>
            <a:ext cx="1018227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 dirty="0">
                <a:solidFill>
                  <a:srgbClr val="A4123F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5993" y="3200400"/>
            <a:ext cx="414953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dirty="0">
                <a:latin typeface="Calibri"/>
              </a:rPr>
              <a:t>Literature Review &amp; Research Gap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165227-9F30-9245-CA1E-CEBEE1CD25AF}"/>
              </a:ext>
            </a:extLst>
          </p:cNvPr>
          <p:cNvSpPr/>
          <p:nvPr/>
        </p:nvSpPr>
        <p:spPr>
          <a:xfrm>
            <a:off x="508000" y="295564"/>
            <a:ext cx="11222182" cy="1496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502C412-00CB-657E-E885-D6D72CC6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7" y="757654"/>
            <a:ext cx="9247085" cy="421500"/>
          </a:xfrm>
        </p:spPr>
        <p:txBody>
          <a:bodyPr/>
          <a:lstStyle/>
          <a:p>
            <a:r>
              <a:rPr lang="en-US" dirty="0"/>
              <a:t>Related Work — Existing Approaches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95400" y="1810978"/>
          <a:ext cx="9601200" cy="4261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3517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Framework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Authors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Focus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Limitation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517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GRACE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Lu et al.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Graph-enhanced LLM + ICL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Prompt sensitivity, limited languages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517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DLAP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Yang 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DL-guided prompting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Dependent on DL model quality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517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FUSEVUL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Tian 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Multi-modal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Limited to C/C++, basic prompting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517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LLMVulExp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Mao 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rPr dirty="0"/>
                        <a:t>Explainable via teacher-student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High annotation &amp; compute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3517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VulACLLM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Liu 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AST+CFG+LoRA/distillation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Performance trade-off from compression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3517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SecureFalcon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Ferrag 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Compact LLM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Limited to known patterns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3517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RLV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Qiu et al. 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Repository-level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Context-length limits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3523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GPTVD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Chen et al. 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Static slicing + CoT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rPr dirty="0"/>
                        <a:t>Limited dataset, scalability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25181-C48E-A95D-3BCC-67E3C8873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081C287-AF4D-1B57-1D0E-3B1679491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7" y="757654"/>
            <a:ext cx="9247085" cy="421500"/>
          </a:xfrm>
        </p:spPr>
        <p:txBody>
          <a:bodyPr/>
          <a:lstStyle/>
          <a:p>
            <a:r>
              <a:rPr lang="en-US" dirty="0"/>
              <a:t>Related Work — Existing Approaches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94917EE-66C8-0C3F-670B-73A01BD11A40}"/>
              </a:ext>
            </a:extLst>
          </p:cNvPr>
          <p:cNvGraphicFramePr>
            <a:graphicFrameLocks noGrp="1"/>
          </p:cNvGraphicFramePr>
          <p:nvPr/>
        </p:nvGraphicFramePr>
        <p:xfrm>
          <a:off x="1295400" y="1810978"/>
          <a:ext cx="9601200" cy="4261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3517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Framework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Authors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Focus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Limitation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517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rPr dirty="0"/>
                        <a:t>GRACE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Lu et al.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Graph-enhanced LLM + ICL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Prompt sensitivity, limited languages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517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DLAP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Yang 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DL-guided prompting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Dependent on DL model quality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517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FUSEVUL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Tian 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Multi-modal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Limited to C/C++, basic prompting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517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LLMVulExp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Mao 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rPr dirty="0"/>
                        <a:t>Explainable via teacher-student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High annotation &amp; compute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3517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VulACLLM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Liu 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AST+CFG+LoRA/distillation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Performance trade-off from compression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3517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SecureFalcon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Ferrag 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Compact LLM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Limited to known patterns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3517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RLV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Qiu et al. 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Repository-level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Context-length limits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3523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GPTVD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Chen et al. 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Static slicing + CoT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rPr dirty="0"/>
                        <a:t>Limited dataset, scalability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3520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6760" y="1749287"/>
            <a:ext cx="10698480" cy="3249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40" dirty="0">
                <a:latin typeface="Calibri"/>
              </a:rPr>
              <a:t>▸  Gap 1: Computational Cost</a:t>
            </a:r>
          </a:p>
          <a:p>
            <a:r>
              <a:rPr lang="en-US" sz="2159" dirty="0">
                <a:latin typeface="Calibri"/>
              </a:rPr>
              <a:t>◦  Many LLM-based methods rely on expensive architectures (large GPUs, &gt;10B params)</a:t>
            </a:r>
          </a:p>
          <a:p>
            <a:r>
              <a:rPr lang="en-US" sz="2159" dirty="0">
                <a:latin typeface="Calibri"/>
              </a:rPr>
              <a:t>◦  Limits practical deployment in routine secure development workflows</a:t>
            </a:r>
          </a:p>
          <a:p>
            <a:endParaRPr lang="en-US" sz="2159" dirty="0">
              <a:latin typeface="Calibri"/>
            </a:endParaRPr>
          </a:p>
          <a:p>
            <a:r>
              <a:rPr lang="en-US" sz="2540" dirty="0">
                <a:latin typeface="Calibri"/>
              </a:rPr>
              <a:t>▸  Gap 2: No Domain-Specific Prioritization</a:t>
            </a:r>
          </a:p>
          <a:p>
            <a:r>
              <a:rPr lang="en-US" sz="2159" dirty="0">
                <a:latin typeface="Calibri"/>
              </a:rPr>
              <a:t>◦  Literature focuses on detection accuracy alone</a:t>
            </a:r>
          </a:p>
          <a:p>
            <a:r>
              <a:rPr lang="en-US" sz="2159" dirty="0">
                <a:latin typeface="Calibri"/>
              </a:rPr>
              <a:t>◦  No framework addresses how findings should be prioritized in healthcare settings</a:t>
            </a:r>
          </a:p>
          <a:p>
            <a:r>
              <a:rPr lang="en-US" sz="2159" dirty="0">
                <a:latin typeface="Calibri"/>
              </a:rPr>
              <a:t>◦  A buffer overflow in an EHR system ≠ a buffer overflow in a game engine</a:t>
            </a:r>
          </a:p>
          <a:p>
            <a:endParaRPr lang="en-US" sz="2159" dirty="0">
              <a:latin typeface="Calibri"/>
            </a:endParaRPr>
          </a:p>
          <a:p>
            <a:r>
              <a:rPr lang="en-US" sz="2540" dirty="0">
                <a:latin typeface="Calibri"/>
              </a:rPr>
              <a:t>▸  Gap 3: Limited Healthcare-Oriented Resources</a:t>
            </a:r>
          </a:p>
          <a:p>
            <a:r>
              <a:rPr lang="en-US" sz="2159" dirty="0">
                <a:latin typeface="Calibri"/>
              </a:rPr>
              <a:t>◦  Privacy-aware vulnerability resources for healthcare are scarce</a:t>
            </a:r>
          </a:p>
          <a:p>
            <a:r>
              <a:rPr lang="en-US" sz="2159" dirty="0">
                <a:latin typeface="Calibri"/>
              </a:rPr>
              <a:t>◦  Missing link: translating technical CWE findings into healthcare-relevant risk signals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02C412-00CB-657E-E885-D6D72CC6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7" y="757654"/>
            <a:ext cx="9247085" cy="421500"/>
          </a:xfrm>
        </p:spPr>
        <p:txBody>
          <a:bodyPr/>
          <a:lstStyle/>
          <a:p>
            <a:r>
              <a:rPr lang="en-US" dirty="0"/>
              <a:t>Three Key Research Gaps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571646" y="1645920"/>
            <a:ext cx="1018227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 dirty="0">
                <a:solidFill>
                  <a:srgbClr val="A4123F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5993" y="3200400"/>
            <a:ext cx="414953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dirty="0">
                <a:latin typeface="Calibri"/>
              </a:rPr>
              <a:t>Novelty / Problem Statement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165227-9F30-9245-CA1E-CEBEE1CD25AF}"/>
              </a:ext>
            </a:extLst>
          </p:cNvPr>
          <p:cNvSpPr/>
          <p:nvPr/>
        </p:nvSpPr>
        <p:spPr>
          <a:xfrm>
            <a:off x="508000" y="295564"/>
            <a:ext cx="11222182" cy="1496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6760" y="1749287"/>
            <a:ext cx="1069848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/>
              </a:rPr>
              <a:t>▸  Source code vulnerability detection in C/C++ programs using fine-tuned lightweight LLMs</a:t>
            </a:r>
          </a:p>
          <a:p>
            <a:endParaRPr lang="en-US" sz="2000" dirty="0">
              <a:latin typeface="Calibri"/>
            </a:endParaRPr>
          </a:p>
          <a:p>
            <a:r>
              <a:rPr lang="en-US" sz="2000" dirty="0">
                <a:latin typeface="Calibri"/>
              </a:rPr>
              <a:t>▸  Given a code sample, determine whether it contains vulnerability-relevant patterns</a:t>
            </a:r>
          </a:p>
          <a:p>
            <a:r>
              <a:rPr lang="en-US" sz="2000" dirty="0">
                <a:latin typeface="Calibri"/>
              </a:rPr>
              <a:t>◦  Classify into one of 118 CWE categories</a:t>
            </a:r>
          </a:p>
          <a:p>
            <a:endParaRPr lang="en-US" sz="2000" dirty="0">
              <a:latin typeface="Calibri"/>
            </a:endParaRPr>
          </a:p>
          <a:p>
            <a:r>
              <a:rPr lang="en-US" sz="2000" dirty="0">
                <a:latin typeface="Calibri"/>
              </a:rPr>
              <a:t>▸  Additionally, prioritize findings in healthcare contexts where defects may impact: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</a:rPr>
              <a:t>Patient data confidentiality and integrity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</a:rPr>
              <a:t>Service continuity and system trust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</a:rPr>
              <a:t>Regulatory compliance</a:t>
            </a:r>
          </a:p>
          <a:p>
            <a:endParaRPr lang="en-US" sz="2000" dirty="0">
              <a:latin typeface="Calibri"/>
            </a:endParaRPr>
          </a:p>
          <a:p>
            <a:r>
              <a:rPr lang="en-US" sz="2000" dirty="0">
                <a:latin typeface="Calibri"/>
              </a:rPr>
              <a:t>▸  Three key challenges: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>
                <a:latin typeface="Calibri"/>
              </a:rPr>
              <a:t>Vulnerable vs. safe code may differ in only minor semantic details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>
                <a:latin typeface="Calibri"/>
              </a:rPr>
              <a:t>118 CWE categories with uneven distributions (1,500 vs. 5 samples)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>
                <a:latin typeface="Calibri"/>
              </a:rPr>
              <a:t>High-performing models must be practical on consumer hardware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02C412-00CB-657E-E885-D6D72CC6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7" y="757654"/>
            <a:ext cx="9247085" cy="421500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6760" y="1749287"/>
            <a:ext cx="10698480" cy="3249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40" dirty="0">
                <a:latin typeface="Calibri"/>
              </a:rPr>
              <a:t>▸  Novelty 1: Template-Aware Data Splitting</a:t>
            </a:r>
          </a:p>
          <a:p>
            <a:r>
              <a:rPr lang="en-US" sz="2159" dirty="0">
                <a:latin typeface="Calibri"/>
              </a:rPr>
              <a:t>◦  Eliminates structural data leakage inherent in the Juliet Test Suite</a:t>
            </a:r>
          </a:p>
          <a:p>
            <a:r>
              <a:rPr lang="en-US" sz="2159" dirty="0">
                <a:latin typeface="Calibri"/>
              </a:rPr>
              <a:t>◦  Splits at template level using GroupShuffleSplit — zero template overlap</a:t>
            </a:r>
          </a:p>
          <a:p>
            <a:r>
              <a:rPr lang="en-US" sz="2159" dirty="0">
                <a:latin typeface="Calibri"/>
              </a:rPr>
              <a:t>◦  First rigorous anti-leakage split for Juliet-based evaluations</a:t>
            </a:r>
          </a:p>
          <a:p>
            <a:endParaRPr lang="en-US" sz="2159" dirty="0">
              <a:latin typeface="Calibri"/>
            </a:endParaRPr>
          </a:p>
          <a:p>
            <a:r>
              <a:rPr lang="en-US" sz="2540" dirty="0">
                <a:latin typeface="Calibri"/>
              </a:rPr>
              <a:t>▸  Novelty 2: Multi-Paradigm Model Evaluation</a:t>
            </a:r>
          </a:p>
          <a:p>
            <a:r>
              <a:rPr lang="en-US" sz="2159" dirty="0">
                <a:latin typeface="Calibri"/>
              </a:rPr>
              <a:t>◦  First study to compare 3 paradigms on 118-class CWE classification:</a:t>
            </a:r>
          </a:p>
          <a:p>
            <a:r>
              <a:rPr lang="en-US" sz="2159" dirty="0">
                <a:latin typeface="Calibri"/>
              </a:rPr>
              <a:t>◦  Encoder fine-tuning | QLoRA fine-tuning | Zero-shot generative inference</a:t>
            </a:r>
          </a:p>
          <a:p>
            <a:endParaRPr lang="en-US" sz="2159" dirty="0">
              <a:latin typeface="Calibri"/>
            </a:endParaRPr>
          </a:p>
          <a:p>
            <a:r>
              <a:rPr lang="en-US" sz="2540" dirty="0">
                <a:latin typeface="Calibri"/>
              </a:rPr>
              <a:t>▸  Novelty 3: Healthcare-Oriented Risk Prioritization Layer</a:t>
            </a:r>
          </a:p>
          <a:p>
            <a:r>
              <a:rPr lang="en-US" sz="2159" dirty="0">
                <a:latin typeface="Calibri"/>
              </a:rPr>
              <a:t>◦  Three-stage post-detection pipeline:</a:t>
            </a:r>
          </a:p>
          <a:p>
            <a:r>
              <a:rPr lang="en-US" sz="2159" dirty="0">
                <a:latin typeface="Calibri"/>
              </a:rPr>
              <a:t>◦  CWE → LINDDUN threat types → Policy control domains → Weighted risk score</a:t>
            </a:r>
          </a:p>
          <a:p>
            <a:r>
              <a:rPr lang="en-US" sz="2159" dirty="0">
                <a:latin typeface="Calibri"/>
              </a:rPr>
              <a:t>◦  P = λ₁s + λ₂E + λ₃D + λ₄S + λ₅C’ → Priority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02C412-00CB-657E-E885-D6D72CC6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7" y="757654"/>
            <a:ext cx="9247085" cy="421500"/>
          </a:xfrm>
        </p:spPr>
        <p:txBody>
          <a:bodyPr/>
          <a:lstStyle/>
          <a:p>
            <a:r>
              <a:rPr lang="en-US" dirty="0"/>
              <a:t>Three-Fold Novelty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571646" y="1645920"/>
            <a:ext cx="1018227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 dirty="0">
                <a:solidFill>
                  <a:srgbClr val="A4123F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5993" y="3200400"/>
            <a:ext cx="414953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dirty="0">
                <a:latin typeface="Calibri"/>
              </a:rPr>
              <a:t>Methodology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165227-9F30-9245-CA1E-CEBEE1CD25AF}"/>
              </a:ext>
            </a:extLst>
          </p:cNvPr>
          <p:cNvSpPr/>
          <p:nvPr/>
        </p:nvSpPr>
        <p:spPr>
          <a:xfrm>
            <a:off x="508000" y="295564"/>
            <a:ext cx="11222182" cy="1496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6760" y="1749287"/>
            <a:ext cx="10698480" cy="3249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40" dirty="0">
                <a:latin typeface="Calibri"/>
              </a:rPr>
              <a:t>▸  NIST Juliet Test Suite for C/C++ v1.3</a:t>
            </a:r>
          </a:p>
          <a:p>
            <a:r>
              <a:rPr lang="en-US" sz="2159" dirty="0">
                <a:latin typeface="Calibri"/>
              </a:rPr>
              <a:t>◦  105,183 source code samples across 118 CWE categories</a:t>
            </a:r>
          </a:p>
          <a:p>
            <a:r>
              <a:rPr lang="en-US" sz="2159" dirty="0">
                <a:latin typeface="Calibri"/>
              </a:rPr>
              <a:t>◦  Training: 82,736 samples (1,323 templates)</a:t>
            </a:r>
          </a:p>
          <a:p>
            <a:r>
              <a:rPr lang="en-US" sz="2159" dirty="0">
                <a:latin typeface="Calibri"/>
              </a:rPr>
              <a:t>◦  Test: 22,447 samples (366 templates, 87 CWEs)</a:t>
            </a:r>
          </a:p>
          <a:p>
            <a:r>
              <a:rPr lang="en-US" sz="2159" dirty="0">
                <a:latin typeface="Calibri"/>
              </a:rPr>
              <a:t>◦  Zero template overlap (80/20 split, seed=42)</a:t>
            </a:r>
          </a:p>
          <a:p>
            <a:endParaRPr lang="en-US" sz="2159" dirty="0">
              <a:latin typeface="Calibri"/>
            </a:endParaRPr>
          </a:p>
          <a:p>
            <a:r>
              <a:rPr lang="en-US" sz="2540" dirty="0">
                <a:latin typeface="Calibri"/>
              </a:rPr>
              <a:t>▸  4-Stage Preprocessing Pipeline:</a:t>
            </a:r>
          </a:p>
          <a:p>
            <a:r>
              <a:rPr lang="en-US" sz="2159" dirty="0">
                <a:latin typeface="Calibri"/>
              </a:rPr>
              <a:t>◦  Stage 1: Header removal (template-generated comment blocks)</a:t>
            </a:r>
          </a:p>
          <a:p>
            <a:r>
              <a:rPr lang="en-US" sz="2159" dirty="0">
                <a:latin typeface="Calibri"/>
              </a:rPr>
              <a:t>◦  Stage 2: Comment stripping (state machine, preserves string literals)</a:t>
            </a:r>
          </a:p>
          <a:p>
            <a:r>
              <a:rPr lang="en-US" sz="2159" dirty="0">
                <a:latin typeface="Calibri"/>
              </a:rPr>
              <a:t>◦  Stage 3: Guard removal (#ifndef OMITBAD, #ifndef OMITGOOD, etc.)</a:t>
            </a:r>
          </a:p>
          <a:p>
            <a:r>
              <a:rPr lang="en-US" sz="2159" dirty="0">
                <a:latin typeface="Calibri"/>
              </a:rPr>
              <a:t>◦  Stage 4: Whitespace normalization (compact representation)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02C412-00CB-657E-E885-D6D72CC6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7" y="757654"/>
            <a:ext cx="9247085" cy="421500"/>
          </a:xfrm>
        </p:spPr>
        <p:txBody>
          <a:bodyPr/>
          <a:lstStyle/>
          <a:p>
            <a:r>
              <a:rPr lang="en-US" dirty="0"/>
              <a:t>Dataset &amp; Preprocessing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502C412-00CB-657E-E885-D6D72CC6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7" y="757654"/>
            <a:ext cx="9247085" cy="421500"/>
          </a:xfrm>
        </p:spPr>
        <p:txBody>
          <a:bodyPr/>
          <a:lstStyle/>
          <a:p>
            <a:r>
              <a:rPr lang="en-US" dirty="0"/>
              <a:t>Models Evaluated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95400" y="1810978"/>
          <a:ext cx="9601200" cy="4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Paradigm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Size (MB)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Details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CodeT5-Small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Encoder 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35.4M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405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Full fine-tuning, FP16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CodeT5-Base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Encoder 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109.7M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1,256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Full fine-tuning, FP16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CodeBERT-Base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Encoder 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124.7M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1,423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Full fine-tuning, FP16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GraphCodeBERT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Encoder 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124.7M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1,423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Full fine-tuning, FP16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CodeGemma-2B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QLoRA 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2.51B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4,677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4-bit NF4, LoRA r=16, α=32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CodeGemma-2B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Zero-Shot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2.51B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4,677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Beam search B=10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Gemma-4-E2B-IT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Zero-Shot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5.13B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9,561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Instruction-tuned, B=2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6760" y="1749287"/>
            <a:ext cx="1069848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/>
              </a:rPr>
              <a:t>▸  Classification Head: Mean pooling → Dropout → Linear → Softmax → 118-dim</a:t>
            </a:r>
          </a:p>
          <a:p>
            <a:endParaRPr lang="en-US" sz="2000" dirty="0">
              <a:latin typeface="Calibri"/>
            </a:endParaRPr>
          </a:p>
          <a:p>
            <a:r>
              <a:rPr lang="en-US" sz="2000" dirty="0">
                <a:latin typeface="Calibri"/>
              </a:rPr>
              <a:t>▸  Encoder Models:</a:t>
            </a:r>
          </a:p>
          <a:p>
            <a:pPr lvl="1"/>
            <a:r>
              <a:rPr lang="en-US" sz="2000" dirty="0">
                <a:latin typeface="Calibri"/>
              </a:rPr>
              <a:t>◦  Learning rate: 5×10⁻⁵, AdamW optimizer, batch size 8</a:t>
            </a:r>
          </a:p>
          <a:p>
            <a:pPr lvl="1"/>
            <a:r>
              <a:rPr lang="en-US" sz="2000" dirty="0">
                <a:latin typeface="Calibri"/>
              </a:rPr>
              <a:t>◦  Max sequence length: 256 tokens, 2 epochs, FP16 precision</a:t>
            </a:r>
          </a:p>
          <a:p>
            <a:pPr lvl="1"/>
            <a:r>
              <a:rPr lang="en-US" sz="2000" dirty="0">
                <a:latin typeface="Calibri"/>
              </a:rPr>
              <a:t>◦  Early stopping: patience=1</a:t>
            </a:r>
          </a:p>
          <a:p>
            <a:endParaRPr lang="en-US" sz="2000" dirty="0">
              <a:latin typeface="Calibri"/>
            </a:endParaRPr>
          </a:p>
          <a:p>
            <a:r>
              <a:rPr lang="en-US" sz="2000" dirty="0">
                <a:latin typeface="Calibri"/>
              </a:rPr>
              <a:t>▸  QLoRA (CodeGemma-2B):</a:t>
            </a:r>
          </a:p>
          <a:p>
            <a:pPr lvl="1"/>
            <a:r>
              <a:rPr lang="en-US" sz="2000" dirty="0">
                <a:latin typeface="Calibri"/>
              </a:rPr>
              <a:t>◦  Learning rate: 2×10⁻⁴, PagedAdamW 8-bit, effective batch 8</a:t>
            </a:r>
          </a:p>
          <a:p>
            <a:pPr lvl="1"/>
            <a:r>
              <a:rPr lang="en-US" sz="2000" dirty="0">
                <a:latin typeface="Calibri"/>
              </a:rPr>
              <a:t>◦  LoRA targets: q, k, v, o, gate, up, down projections</a:t>
            </a:r>
          </a:p>
          <a:p>
            <a:pPr lvl="1"/>
            <a:r>
              <a:rPr lang="en-US" sz="2000" dirty="0">
                <a:latin typeface="Calibri"/>
              </a:rPr>
              <a:t>◦  Memory: ~5.5 GB (FP16) → ~1.8 GB (NF4), only ~0.5% params trained</a:t>
            </a:r>
          </a:p>
          <a:p>
            <a:endParaRPr lang="en-US" sz="2000" dirty="0">
              <a:latin typeface="Calibri"/>
            </a:endParaRPr>
          </a:p>
          <a:p>
            <a:r>
              <a:rPr lang="en-US" sz="2000" dirty="0">
                <a:latin typeface="Calibri"/>
              </a:rPr>
              <a:t>▸  Hardware: NVIDIA RTX 2000 Ada (8 GB VRAM), Intel i7-13850HX</a:t>
            </a:r>
          </a:p>
          <a:p>
            <a:r>
              <a:rPr lang="en-US" sz="2000" dirty="0">
                <a:latin typeface="Calibri"/>
              </a:rPr>
              <a:t>▸  Stack: Python 3.13, PyTorch ≥2.0, HuggingFace Transformers ≥5.5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02C412-00CB-657E-E885-D6D72CC6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7" y="757654"/>
            <a:ext cx="9247085" cy="421500"/>
          </a:xfrm>
        </p:spPr>
        <p:txBody>
          <a:bodyPr/>
          <a:lstStyle/>
          <a:p>
            <a:r>
              <a:rPr lang="en-US" dirty="0"/>
              <a:t>Training Configuration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6760" y="1653871"/>
            <a:ext cx="1069848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/>
              </a:rPr>
              <a:t>▸  Step 1 — Privacy &amp; Security Risk Categorization:</a:t>
            </a:r>
          </a:p>
          <a:p>
            <a:pPr lvl="1"/>
            <a:r>
              <a:rPr lang="en-US" sz="2000" dirty="0">
                <a:latin typeface="Calibri"/>
              </a:rPr>
              <a:t>◦  R = f(c) — map detected CWE to LINDDUN threat types</a:t>
            </a:r>
          </a:p>
          <a:p>
            <a:pPr lvl="1"/>
            <a:r>
              <a:rPr lang="en-US" sz="2000" dirty="0">
                <a:latin typeface="Calibri"/>
              </a:rPr>
              <a:t>◦  Linkability, Identifiability, Non-repudiation, Detectability,</a:t>
            </a:r>
          </a:p>
          <a:p>
            <a:pPr lvl="1"/>
            <a:r>
              <a:rPr lang="en-US" sz="2000" dirty="0">
                <a:latin typeface="Calibri"/>
              </a:rPr>
              <a:t>◦  Information Disclosure, Unawareness, Non-compliance</a:t>
            </a:r>
          </a:p>
          <a:p>
            <a:endParaRPr lang="en-US" sz="2000" dirty="0">
              <a:latin typeface="Calibri"/>
            </a:endParaRPr>
          </a:p>
          <a:p>
            <a:r>
              <a:rPr lang="en-US" sz="2000" dirty="0">
                <a:latin typeface="Calibri"/>
              </a:rPr>
              <a:t>▸  Step 2 — Policy-Relevant Control Domains:</a:t>
            </a:r>
          </a:p>
          <a:p>
            <a:pPr lvl="1"/>
            <a:r>
              <a:rPr lang="en-US" sz="2000" dirty="0">
                <a:latin typeface="Calibri"/>
              </a:rPr>
              <a:t>◦  C = g(R) — confidentiality, access control, audit &amp; accountability,</a:t>
            </a:r>
          </a:p>
          <a:p>
            <a:pPr lvl="1"/>
            <a:r>
              <a:rPr lang="en-US" sz="2000" dirty="0">
                <a:latin typeface="Calibri"/>
              </a:rPr>
              <a:t>◦  secure data handling, service availability</a:t>
            </a:r>
          </a:p>
          <a:p>
            <a:endParaRPr lang="en-US" sz="2000" dirty="0">
              <a:latin typeface="Calibri"/>
            </a:endParaRPr>
          </a:p>
          <a:p>
            <a:r>
              <a:rPr lang="en-US" sz="2000" dirty="0">
                <a:latin typeface="Calibri"/>
              </a:rPr>
              <a:t>▸  Step 3 — Weighted Risk Prioritization:</a:t>
            </a:r>
          </a:p>
          <a:p>
            <a:pPr lvl="1"/>
            <a:r>
              <a:rPr lang="en-US" sz="2000" dirty="0">
                <a:latin typeface="Calibri"/>
              </a:rPr>
              <a:t>◦  P = w₁·s + w₂·E + w₃·D + w₄·S + w₅·C’</a:t>
            </a:r>
          </a:p>
          <a:p>
            <a:pPr lvl="1"/>
            <a:r>
              <a:rPr lang="en-US" sz="2000" dirty="0">
                <a:latin typeface="Calibri"/>
              </a:rPr>
              <a:t>◦  s = model confidence, E = severity, D = data sensitivity</a:t>
            </a:r>
          </a:p>
          <a:p>
            <a:pPr lvl="1"/>
            <a:r>
              <a:rPr lang="en-US" sz="2000" dirty="0">
                <a:latin typeface="Calibri"/>
              </a:rPr>
              <a:t>◦  S = service/safety impact, C’ = control domain importance</a:t>
            </a:r>
          </a:p>
          <a:p>
            <a:endParaRPr lang="en-US" sz="2000" dirty="0">
              <a:latin typeface="Calibri"/>
            </a:endParaRPr>
          </a:p>
          <a:p>
            <a:r>
              <a:rPr lang="en-US" sz="2000" dirty="0">
                <a:latin typeface="Calibri"/>
              </a:rPr>
              <a:t>▸  Output: Ordinal priority level (Critical / High / Medium / Low)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02C412-00CB-657E-E885-D6D72CC6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7" y="757654"/>
            <a:ext cx="9247085" cy="421500"/>
          </a:xfrm>
        </p:spPr>
        <p:txBody>
          <a:bodyPr/>
          <a:lstStyle/>
          <a:p>
            <a:r>
              <a:rPr lang="en-US" dirty="0"/>
              <a:t>Healthcare Risk Prioritization Layer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571646" y="1645920"/>
            <a:ext cx="1018227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 dirty="0">
                <a:solidFill>
                  <a:srgbClr val="A4123F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5993" y="3200400"/>
            <a:ext cx="414953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dirty="0">
                <a:latin typeface="Calibri"/>
              </a:rPr>
              <a:t>Block Diagram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165227-9F30-9245-CA1E-CEBEE1CD25AF}"/>
              </a:ext>
            </a:extLst>
          </p:cNvPr>
          <p:cNvSpPr/>
          <p:nvPr/>
        </p:nvSpPr>
        <p:spPr>
          <a:xfrm>
            <a:off x="508000" y="295564"/>
            <a:ext cx="11222182" cy="1496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502C412-00CB-657E-E885-D6D72CC6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7" y="757654"/>
            <a:ext cx="9247085" cy="421500"/>
          </a:xfrm>
        </p:spPr>
        <p:txBody>
          <a:bodyPr/>
          <a:lstStyle/>
          <a:p>
            <a:r>
              <a:rPr lang="en-US" dirty="0"/>
              <a:t>SHARP-LLM Pipeline — End-to-End Flow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DF249DA-819B-2BA4-8FC9-4BC14BBA2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76297"/>
            <a:ext cx="12192000" cy="190540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571646" y="1645920"/>
            <a:ext cx="1018227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 dirty="0">
                <a:solidFill>
                  <a:srgbClr val="A4123F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5993" y="3200400"/>
            <a:ext cx="414953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dirty="0">
                <a:latin typeface="Calibri"/>
              </a:rPr>
              <a:t>Results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165227-9F30-9245-CA1E-CEBEE1CD25AF}"/>
              </a:ext>
            </a:extLst>
          </p:cNvPr>
          <p:cNvSpPr/>
          <p:nvPr/>
        </p:nvSpPr>
        <p:spPr>
          <a:xfrm>
            <a:off x="508000" y="295564"/>
            <a:ext cx="11222182" cy="1496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502C412-00CB-657E-E885-D6D72CC6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7" y="757654"/>
            <a:ext cx="9247085" cy="421500"/>
          </a:xfrm>
        </p:spPr>
        <p:txBody>
          <a:bodyPr/>
          <a:lstStyle/>
          <a:p>
            <a:r>
              <a:rPr lang="en-US" dirty="0"/>
              <a:t>Model Comparison — Full Test Set (22,447 samples)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95400" y="1810978"/>
          <a:ext cx="9601200" cy="3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MCC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CodeT5-Small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35.4M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0.9980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0.9533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0.9534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0.9533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0.9979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17.2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CodeT5-Base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109.7M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0.9978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0.9585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0.9644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0.9605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0.9977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24.9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CodeBERT-Base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124.7M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0.9963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0.9574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0.9539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0.9512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0.9961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19.4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GraphCodeBERT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124.7M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0.9975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0.9530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0.9530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0.9530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0.9974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26.9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CodeGemma-2B (ZS)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2.51B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0.1755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0.0832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0.0948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0.3022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3,277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Gemma-4-E2B-IT (ZS)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5.13B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0.7800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0.6990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0.7167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0.6988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0.7799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396,273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6760" y="1749287"/>
            <a:ext cx="1069848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/>
              </a:rPr>
              <a:t>▸  CodeT5-Base is the best model: highest macro-F1 (0.9605) despite fewer params</a:t>
            </a:r>
          </a:p>
          <a:p>
            <a:r>
              <a:rPr lang="en-US" sz="2000" dirty="0">
                <a:latin typeface="Calibri"/>
              </a:rPr>
              <a:t>▸  Early stopping is critical: CodeBERT &amp; GraphCodeBERT overfit at epoch 2</a:t>
            </a:r>
          </a:p>
          <a:p>
            <a:pPr lvl="1"/>
            <a:r>
              <a:rPr lang="en-US" sz="2000" dirty="0">
                <a:latin typeface="Calibri"/>
              </a:rPr>
              <a:t>◦  GraphCodeBERT F1 drops 5.78 pp (0.9530 → 0.8952) at epoch 2</a:t>
            </a:r>
          </a:p>
          <a:p>
            <a:r>
              <a:rPr lang="en-US" sz="2000" dirty="0">
                <a:latin typeface="Calibri"/>
              </a:rPr>
              <a:t>▸  Template-aware splitting prevents inflated metrics: still &gt;99.6% accuracy</a:t>
            </a:r>
          </a:p>
          <a:p>
            <a:r>
              <a:rPr lang="en-US" sz="2000" dirty="0">
                <a:latin typeface="Calibri"/>
              </a:rPr>
              <a:t>▸  Consumer-grade GPU sufficient: all encoder models train in &lt;53 min on 8 GB VRAM</a:t>
            </a:r>
          </a:p>
          <a:p>
            <a:r>
              <a:rPr lang="en-US" sz="2000" dirty="0">
                <a:latin typeface="Calibri"/>
              </a:rPr>
              <a:t>▸  Fine-tuning dominates zero-shot by 28–75 pp accuracy and 120–23,000× faster inference</a:t>
            </a:r>
          </a:p>
          <a:p>
            <a:r>
              <a:rPr lang="en-US" sz="2000" dirty="0">
                <a:latin typeface="Calibri"/>
              </a:rPr>
              <a:t>▸  Instruction-tuning improves zero-shot 3× (Gemma-4 78% vs CodeGemma 25%)</a:t>
            </a:r>
          </a:p>
          <a:p>
            <a:r>
              <a:rPr lang="en-US" sz="2000" dirty="0">
                <a:latin typeface="Calibri"/>
              </a:rPr>
              <a:t>▸  Sub-30 ms latency — viable for CI/CD, IDE plugins, real-time code review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02C412-00CB-657E-E885-D6D72CC6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7" y="757654"/>
            <a:ext cx="9247085" cy="421500"/>
          </a:xfrm>
        </p:spPr>
        <p:txBody>
          <a:bodyPr/>
          <a:lstStyle/>
          <a:p>
            <a:r>
              <a:rPr lang="en-US" dirty="0"/>
              <a:t>Key Experimental Findings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6760" y="1749287"/>
            <a:ext cx="106984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libri"/>
              </a:rPr>
              <a:t>▸  74 of 87 test CWE categories achieve perfect F1 = 1.00 (85.1%)</a:t>
            </a:r>
          </a:p>
          <a:p>
            <a:r>
              <a:rPr lang="en-US" sz="2400" dirty="0">
                <a:latin typeface="Calibri"/>
              </a:rPr>
              <a:t>▸  Weighted macro-F1 = 0.9979, confirming accuracy on the vast majority of samples</a:t>
            </a:r>
          </a:p>
          <a:p>
            <a:endParaRPr lang="en-US" sz="2400" dirty="0">
              <a:latin typeface="Calibri"/>
            </a:endParaRPr>
          </a:p>
          <a:p>
            <a:r>
              <a:rPr lang="en-US" sz="2400" dirty="0">
                <a:latin typeface="Calibri"/>
              </a:rPr>
              <a:t>▸  Dominant error: misclassification toward CWE-126 (Buffer Over-read)</a:t>
            </a:r>
          </a:p>
          <a:p>
            <a:pPr lvl="1"/>
            <a:r>
              <a:rPr lang="en-US" sz="2000" dirty="0">
                <a:latin typeface="Calibri"/>
              </a:rPr>
              <a:t>◦  23 of 40 total errors are misclassified as CWE-126</a:t>
            </a:r>
          </a:p>
          <a:p>
            <a:pPr lvl="1"/>
            <a:r>
              <a:rPr lang="en-US" sz="2000" dirty="0">
                <a:latin typeface="Calibri"/>
              </a:rPr>
              <a:t>◦  CWE-127 (Buffer Under-read): 6 errors</a:t>
            </a:r>
          </a:p>
          <a:p>
            <a:endParaRPr lang="en-US" sz="2000" dirty="0">
              <a:latin typeface="Calibri"/>
            </a:endParaRPr>
          </a:p>
          <a:p>
            <a:r>
              <a:rPr lang="en-US" sz="2400" dirty="0">
                <a:latin typeface="Calibri"/>
              </a:rPr>
              <a:t>▸  Root cause: buffer access CWEs share syntactic patterns</a:t>
            </a:r>
          </a:p>
          <a:p>
            <a:pPr lvl="1"/>
            <a:r>
              <a:rPr lang="en-US" sz="2000" dirty="0">
                <a:latin typeface="Calibri"/>
              </a:rPr>
              <a:t>◦  Pointer arithmetic, array indexing, similar code structures</a:t>
            </a:r>
          </a:p>
          <a:p>
            <a:endParaRPr lang="en-US" sz="2000" dirty="0">
              <a:latin typeface="Calibri"/>
            </a:endParaRPr>
          </a:p>
          <a:p>
            <a:r>
              <a:rPr lang="en-US" sz="2400" dirty="0">
                <a:latin typeface="Calibri"/>
              </a:rPr>
              <a:t>▸  3 categories with F1 = 0.00 each have only 1 test sample</a:t>
            </a:r>
          </a:p>
          <a:p>
            <a:pPr lvl="1"/>
            <a:r>
              <a:rPr lang="en-US" sz="2000" dirty="0">
                <a:latin typeface="Calibri"/>
              </a:rPr>
              <a:t>◦  CWE-561, CWE-562, CWE-674 — insufficient data, not model failure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02C412-00CB-657E-E885-D6D72CC6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7" y="757654"/>
            <a:ext cx="9247085" cy="421500"/>
          </a:xfrm>
        </p:spPr>
        <p:txBody>
          <a:bodyPr/>
          <a:lstStyle/>
          <a:p>
            <a:r>
              <a:rPr lang="en-US" dirty="0"/>
              <a:t>Per-Class Performance &amp; Error Analysis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6760" y="1749287"/>
            <a:ext cx="1069848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libri"/>
              </a:rPr>
              <a:t>▸  CodeT5-Small: Best at epoch 2, 53 min total — continued improving</a:t>
            </a:r>
          </a:p>
          <a:p>
            <a:r>
              <a:rPr lang="en-US" sz="2400" dirty="0">
                <a:latin typeface="Calibri"/>
              </a:rPr>
              <a:t>▸  CodeT5-Base: Best at epoch 2, 53 min total — continued improving</a:t>
            </a:r>
          </a:p>
          <a:p>
            <a:r>
              <a:rPr lang="en-US" sz="2400" dirty="0">
                <a:latin typeface="Calibri"/>
              </a:rPr>
              <a:t>▸  CodeBERT-Base: Best at epoch 1, 22 min/epoch — overfits at epoch 2</a:t>
            </a:r>
          </a:p>
          <a:p>
            <a:pPr lvl="1"/>
            <a:r>
              <a:rPr lang="en-US" sz="2000" dirty="0">
                <a:latin typeface="Calibri"/>
              </a:rPr>
              <a:t>◦  F1: 0.9512 → 0.9377 (-1.35 pp)</a:t>
            </a:r>
          </a:p>
          <a:p>
            <a:r>
              <a:rPr lang="en-US" sz="2400" dirty="0">
                <a:latin typeface="Calibri"/>
              </a:rPr>
              <a:t>▸  GraphCodeBERT: Best at epoch 1, 23 min/epoch — overfits at epoch 2</a:t>
            </a:r>
          </a:p>
          <a:p>
            <a:pPr lvl="1"/>
            <a:r>
              <a:rPr lang="en-US" sz="2000" dirty="0">
                <a:latin typeface="Calibri"/>
              </a:rPr>
              <a:t>◦  F1: 0.9530 → 0.8952 (-5.78 pp)</a:t>
            </a:r>
          </a:p>
          <a:p>
            <a:endParaRPr lang="en-US" sz="2000" dirty="0">
              <a:latin typeface="Calibri"/>
            </a:endParaRPr>
          </a:p>
          <a:p>
            <a:r>
              <a:rPr lang="en-US" sz="2400" dirty="0">
                <a:latin typeface="Calibri"/>
              </a:rPr>
              <a:t>▸  Inference Latency (speedup vs CodeGemma-2B zero-shot):</a:t>
            </a:r>
          </a:p>
          <a:p>
            <a:pPr lvl="1"/>
            <a:r>
              <a:rPr lang="en-US" sz="2000" dirty="0">
                <a:latin typeface="Calibri"/>
              </a:rPr>
              <a:t>◦  CodeT5-Small: 17.2 ms (190× faster)</a:t>
            </a:r>
          </a:p>
          <a:p>
            <a:pPr lvl="1"/>
            <a:r>
              <a:rPr lang="en-US" sz="2000" dirty="0">
                <a:latin typeface="Calibri"/>
              </a:rPr>
              <a:t>◦  CodeT5-Base: 24.9 ms (131× faster)</a:t>
            </a:r>
          </a:p>
          <a:p>
            <a:pPr lvl="1"/>
            <a:r>
              <a:rPr lang="en-US" sz="2000" dirty="0">
                <a:latin typeface="Calibri"/>
              </a:rPr>
              <a:t>◦  CodeBERT: 19.4 ms (169× faster)</a:t>
            </a:r>
          </a:p>
          <a:p>
            <a:pPr lvl="1"/>
            <a:r>
              <a:rPr lang="en-US" sz="2000" dirty="0">
                <a:latin typeface="Calibri"/>
              </a:rPr>
              <a:t>◦  GraphCodeBERT: 26.9 ms (122× faster)</a:t>
            </a:r>
          </a:p>
          <a:p>
            <a:pPr lvl="1"/>
            <a:r>
              <a:rPr lang="en-US" sz="2000" dirty="0">
                <a:latin typeface="Calibri"/>
              </a:rPr>
              <a:t>◦  Gemma-4-E2B-IT: 396,273 ms (6.6 min/sample!)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02C412-00CB-657E-E885-D6D72CC6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7" y="757654"/>
            <a:ext cx="9247085" cy="421500"/>
          </a:xfrm>
        </p:spPr>
        <p:txBody>
          <a:bodyPr/>
          <a:lstStyle/>
          <a:p>
            <a:r>
              <a:rPr lang="en-US" dirty="0"/>
              <a:t>Training Convergence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571646" y="1645920"/>
            <a:ext cx="1018227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 dirty="0">
                <a:solidFill>
                  <a:srgbClr val="A4123F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5993" y="3200400"/>
            <a:ext cx="414953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dirty="0">
                <a:latin typeface="Calibri"/>
              </a:rPr>
              <a:t>References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165227-9F30-9245-CA1E-CEBEE1CD25AF}"/>
              </a:ext>
            </a:extLst>
          </p:cNvPr>
          <p:cNvSpPr/>
          <p:nvPr/>
        </p:nvSpPr>
        <p:spPr>
          <a:xfrm>
            <a:off x="508000" y="295564"/>
            <a:ext cx="11222182" cy="1496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6760" y="1749287"/>
            <a:ext cx="1069848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/>
              </a:rPr>
              <a:t>[1]  Lu et al. (2024) — GRACE: Graph-enhanced LLM vulnerability detection, J. Sys. &amp; SW</a:t>
            </a:r>
          </a:p>
          <a:p>
            <a:r>
              <a:rPr lang="en-US" sz="2000" dirty="0">
                <a:latin typeface="Calibri"/>
              </a:rPr>
              <a:t>[2]  Yang et al. (2025) — DLAP: DL-augmented LLM prompting, J. Sys. &amp; SW</a:t>
            </a:r>
          </a:p>
          <a:p>
            <a:r>
              <a:rPr lang="en-US" sz="2000" dirty="0">
                <a:latin typeface="Calibri"/>
              </a:rPr>
              <a:t>[3]  Tian et al. (2025) — FUSEVUL: Multi-modal vulnerability detection, Inf. Fusion</a:t>
            </a:r>
          </a:p>
          <a:p>
            <a:r>
              <a:rPr lang="en-US" sz="2000" dirty="0">
                <a:latin typeface="Calibri"/>
              </a:rPr>
              <a:t>[4]  Mao et al. (2025) — LLMVulExp: Explainable vulnerability detection, IEEE TSE</a:t>
            </a:r>
          </a:p>
          <a:p>
            <a:r>
              <a:rPr lang="en-US" sz="2000" dirty="0">
                <a:latin typeface="Calibri"/>
              </a:rPr>
              <a:t>[5]  Liu et al. (2025) — VulACLLM: Lightweight LLM, J. Info. Sec. &amp; Apps.</a:t>
            </a:r>
          </a:p>
          <a:p>
            <a:r>
              <a:rPr lang="en-US" sz="2000" dirty="0">
                <a:latin typeface="Calibri"/>
              </a:rPr>
              <a:t>[6]  Ferrag et al. (2025) — SecureFalcon: Compact LLM for vuln. classification, IEEE TSE</a:t>
            </a:r>
          </a:p>
          <a:p>
            <a:r>
              <a:rPr lang="en-US" sz="2000" dirty="0">
                <a:latin typeface="Calibri"/>
              </a:rPr>
              <a:t>[7]  Qiu et al. (2026) — RLV: Context-aware detection via retrieval, J. Sys. &amp; SW</a:t>
            </a:r>
          </a:p>
          <a:p>
            <a:r>
              <a:rPr lang="en-US" sz="2000" dirty="0">
                <a:latin typeface="Calibri"/>
              </a:rPr>
              <a:t>[8]  Chen et al. (2026) — GPTVD: Static slicing + CoT, Auto. SW Eng.</a:t>
            </a:r>
          </a:p>
          <a:p>
            <a:r>
              <a:rPr lang="en-US" sz="2000" dirty="0">
                <a:latin typeface="Calibri"/>
              </a:rPr>
              <a:t>[9]  Ameh et al. (2025) — C3-VULMAP: Privacy-aware healthcare vuln. dataset, Electronics</a:t>
            </a:r>
          </a:p>
          <a:p>
            <a:r>
              <a:rPr lang="en-US" sz="2000" dirty="0">
                <a:latin typeface="Calibri"/>
              </a:rPr>
              <a:t>[10] NSA/NIST (2017) — Juliet Test Suite for C/C++ v1.3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02C412-00CB-657E-E885-D6D72CC6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7" y="757654"/>
            <a:ext cx="9247085" cy="421500"/>
          </a:xfrm>
        </p:spPr>
        <p:txBody>
          <a:bodyPr/>
          <a:lstStyle/>
          <a:p>
            <a:r>
              <a:rPr lang="en-US" dirty="0"/>
              <a:t>Key References (1/2)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6760" y="1749287"/>
            <a:ext cx="1069848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/>
              </a:rPr>
              <a:t>[11] Wang et al. (2021) — CodeT5: Identifier-aware Unified Pre-trained Encoder-Decoder, EMNLP</a:t>
            </a:r>
          </a:p>
          <a:p>
            <a:r>
              <a:rPr lang="en-US" sz="2000" dirty="0">
                <a:latin typeface="Calibri"/>
              </a:rPr>
              <a:t>[12] Feng et al. (2020) — CodeBERT: Pre-trained Model for Programming Languages, EMNLP</a:t>
            </a:r>
          </a:p>
          <a:p>
            <a:r>
              <a:rPr lang="en-US" sz="2000" dirty="0">
                <a:latin typeface="Calibri"/>
              </a:rPr>
              <a:t>[13] Guo et al. (2020) — GraphCodeBERT: Pre-training Code Representations with Data Flow</a:t>
            </a:r>
          </a:p>
          <a:p>
            <a:r>
              <a:rPr lang="en-US" sz="2000" dirty="0">
                <a:latin typeface="Calibri"/>
              </a:rPr>
              <a:t>[14] Dettmers et al. (2023) — QLoRA: Efficient Finetuning of Quantized LLMs, NeurIPS</a:t>
            </a:r>
          </a:p>
          <a:p>
            <a:r>
              <a:rPr lang="en-US" sz="2000" dirty="0">
                <a:latin typeface="Calibri"/>
              </a:rPr>
              <a:t>[15] CodeGemma Team (2024) — CodeGemma: Open Code Models</a:t>
            </a:r>
          </a:p>
          <a:p>
            <a:r>
              <a:rPr lang="en-US" sz="2000" dirty="0">
                <a:latin typeface="Calibri"/>
              </a:rPr>
              <a:t>[16] Li et al. (2018) — VulDeePecker: Deep learning-based vulnerability detection, NDSS</a:t>
            </a:r>
          </a:p>
          <a:p>
            <a:r>
              <a:rPr lang="en-US" sz="2000" dirty="0">
                <a:latin typeface="Calibri"/>
              </a:rPr>
              <a:t>[17] Fan et al. (2020) — Big-Vul: Large-scale vulnerability dataset, MSR</a:t>
            </a:r>
          </a:p>
          <a:p>
            <a:r>
              <a:rPr lang="en-US" sz="2000" dirty="0">
                <a:latin typeface="Calibri"/>
              </a:rPr>
              <a:t>[18] Zhou et al. (2019) — Devign: Effective vulnerability identification, NeurIPS</a:t>
            </a:r>
          </a:p>
          <a:p>
            <a:r>
              <a:rPr lang="en-US" sz="2000" dirty="0">
                <a:latin typeface="Calibri"/>
              </a:rPr>
              <a:t>[19] Dolcetti &amp; Iotti (2025) — Dual perspective review on LLMs and code verification, Frontiers</a:t>
            </a:r>
          </a:p>
          <a:p>
            <a:r>
              <a:rPr lang="en-US" sz="2000" dirty="0">
                <a:latin typeface="Calibri"/>
              </a:rPr>
              <a:t>[20] Shaon &amp; Akter (2025) — Modern approaches to software vulnerability detection, Electronics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02C412-00CB-657E-E885-D6D72CC6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7" y="757654"/>
            <a:ext cx="9247085" cy="421500"/>
          </a:xfrm>
        </p:spPr>
        <p:txBody>
          <a:bodyPr/>
          <a:lstStyle/>
          <a:p>
            <a:r>
              <a:rPr lang="en-US" dirty="0"/>
              <a:t>Key References (2/2)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571646" y="1645920"/>
            <a:ext cx="1018227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05993" y="3200400"/>
            <a:ext cx="414953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dirty="0">
                <a:latin typeface="Calibri"/>
              </a:rPr>
              <a:t>Thank You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165227-9F30-9245-CA1E-CEBEE1CD25AF}"/>
              </a:ext>
            </a:extLst>
          </p:cNvPr>
          <p:cNvSpPr/>
          <p:nvPr/>
        </p:nvSpPr>
        <p:spPr>
          <a:xfrm>
            <a:off x="508000" y="295564"/>
            <a:ext cx="11222182" cy="1496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114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f6dbec8-95a8-4638-9f5f-bd076536645c}" enabled="1" method="Standard" siteId="{5dbf1add-202a-4b8d-815b-bf0fb024e03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2229</Words>
  <Application>Microsoft Office PowerPoint</Application>
  <PresentationFormat>Widescreen</PresentationFormat>
  <Paragraphs>360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Arial</vt:lpstr>
      <vt:lpstr>Calibri</vt:lpstr>
      <vt:lpstr>Georgia</vt:lpstr>
      <vt:lpstr>Office Theme</vt:lpstr>
      <vt:lpstr>PowerPoint Presentation</vt:lpstr>
      <vt:lpstr>SHARP-LLM </vt:lpstr>
      <vt:lpstr>PowerPoint Presentation</vt:lpstr>
      <vt:lpstr>Why Vulnerability Detection Matters</vt:lpstr>
      <vt:lpstr>What is SHARP-LLM?</vt:lpstr>
      <vt:lpstr>PowerPoint Presentation</vt:lpstr>
      <vt:lpstr>Related Work — Existing Approaches</vt:lpstr>
      <vt:lpstr>Related Work — Existing Approaches</vt:lpstr>
      <vt:lpstr>Three Key Research Gaps</vt:lpstr>
      <vt:lpstr>PowerPoint Presentation</vt:lpstr>
      <vt:lpstr>Problem Statement</vt:lpstr>
      <vt:lpstr>Three-Fold Novelty</vt:lpstr>
      <vt:lpstr>PowerPoint Presentation</vt:lpstr>
      <vt:lpstr>Dataset &amp; Preprocessing</vt:lpstr>
      <vt:lpstr>Models Evaluated</vt:lpstr>
      <vt:lpstr>Training Configuration</vt:lpstr>
      <vt:lpstr>Healthcare Risk Prioritization Layer</vt:lpstr>
      <vt:lpstr>PowerPoint Presentation</vt:lpstr>
      <vt:lpstr>SHARP-LLM Pipeline — End-to-End Flow</vt:lpstr>
      <vt:lpstr>PowerPoint Presentation</vt:lpstr>
      <vt:lpstr>Model Comparison — Full Test Set (22,447 samples)</vt:lpstr>
      <vt:lpstr>Key Experimental Findings</vt:lpstr>
      <vt:lpstr>Per-Class Performance &amp; Error Analysis</vt:lpstr>
      <vt:lpstr>Training Convergence</vt:lpstr>
      <vt:lpstr>PowerPoint Presentation</vt:lpstr>
      <vt:lpstr>Key References (1/2)</vt:lpstr>
      <vt:lpstr>Key References (2/2)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Shreedhara, Basanth Maipady</cp:lastModifiedBy>
  <cp:revision>15</cp:revision>
  <dcterms:created xsi:type="dcterms:W3CDTF">2013-01-27T09:14:16Z</dcterms:created>
  <dcterms:modified xsi:type="dcterms:W3CDTF">2026-04-24T17:37:45Z</dcterms:modified>
  <cp:category/>
</cp:coreProperties>
</file>